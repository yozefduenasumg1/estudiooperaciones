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44" r:id="rId1"/>
  </p:sldMasterIdLst>
  <p:sldIdLst>
    <p:sldId id="256" r:id="rId2"/>
    <p:sldId id="257" r:id="rId3"/>
    <p:sldId id="295" r:id="rId4"/>
    <p:sldId id="258" r:id="rId5"/>
    <p:sldId id="259" r:id="rId6"/>
    <p:sldId id="260" r:id="rId7"/>
    <p:sldId id="261" r:id="rId8"/>
    <p:sldId id="268" r:id="rId9"/>
    <p:sldId id="272" r:id="rId10"/>
    <p:sldId id="288" r:id="rId11"/>
    <p:sldId id="289" r:id="rId12"/>
    <p:sldId id="290" r:id="rId13"/>
    <p:sldId id="291" r:id="rId14"/>
    <p:sldId id="292" r:id="rId15"/>
    <p:sldId id="294" r:id="rId16"/>
    <p:sldId id="282"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2" autoAdjust="0"/>
    <p:restoredTop sz="94624" autoAdjust="0"/>
  </p:normalViewPr>
  <p:slideViewPr>
    <p:cSldViewPr>
      <p:cViewPr varScale="1">
        <p:scale>
          <a:sx n="78" d="100"/>
          <a:sy n="78" d="100"/>
        </p:scale>
        <p:origin x="1594" y="67"/>
      </p:cViewPr>
      <p:guideLst>
        <p:guide orient="horz" pos="2160"/>
        <p:guide pos="2880"/>
      </p:guideLst>
    </p:cSldViewPr>
  </p:slideViewPr>
  <p:outlineViewPr>
    <p:cViewPr>
      <p:scale>
        <a:sx n="33" d="100"/>
        <a:sy n="33" d="100"/>
      </p:scale>
      <p:origin x="0" y="18768"/>
    </p:cViewPr>
  </p:outlineViewPr>
  <p:notesTextViewPr>
    <p:cViewPr>
      <p:scale>
        <a:sx n="1" d="1"/>
        <a:sy n="1" d="1"/>
      </p:scale>
      <p:origin x="0" y="0"/>
    </p:cViewPr>
  </p:notesTextViewPr>
  <p:sorterViewPr>
    <p:cViewPr>
      <p:scale>
        <a:sx n="100" d="100"/>
        <a:sy n="100" d="100"/>
      </p:scale>
      <p:origin x="0" y="320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DC75A744-9DB9-40AC-AB1D-19B8150D20E2}" type="datetimeFigureOut">
              <a:rPr lang="es-ES" smtClean="0"/>
              <a:pPr/>
              <a:t>03/10/2024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C1BD6B5C-F066-44C5-9645-495F9CC2FAFA}" type="slidenum">
              <a:rPr lang="es-ES" smtClean="0"/>
              <a:pPr/>
              <a:t>‹Nº›</a:t>
            </a:fld>
            <a:endParaRPr lang="es-ES"/>
          </a:p>
        </p:txBody>
      </p:sp>
    </p:spTree>
    <p:extLst>
      <p:ext uri="{BB962C8B-B14F-4D97-AF65-F5344CB8AC3E}">
        <p14:creationId xmlns:p14="http://schemas.microsoft.com/office/powerpoint/2010/main" val="1502181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C75A744-9DB9-40AC-AB1D-19B8150D20E2}" type="datetimeFigureOut">
              <a:rPr lang="es-ES" smtClean="0"/>
              <a:pPr/>
              <a:t>03/10/2024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C1BD6B5C-F066-44C5-9645-495F9CC2FAFA}" type="slidenum">
              <a:rPr lang="es-ES" smtClean="0"/>
              <a:pPr/>
              <a:t>‹Nº›</a:t>
            </a:fld>
            <a:endParaRPr lang="es-ES"/>
          </a:p>
        </p:txBody>
      </p:sp>
    </p:spTree>
    <p:extLst>
      <p:ext uri="{BB962C8B-B14F-4D97-AF65-F5344CB8AC3E}">
        <p14:creationId xmlns:p14="http://schemas.microsoft.com/office/powerpoint/2010/main" val="36295945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DC75A744-9DB9-40AC-AB1D-19B8150D20E2}" type="datetimeFigureOut">
              <a:rPr lang="es-ES" smtClean="0"/>
              <a:pPr/>
              <a:t>03/10/2024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C1BD6B5C-F066-44C5-9645-495F9CC2FAFA}" type="slidenum">
              <a:rPr lang="es-ES" smtClean="0"/>
              <a:pPr/>
              <a:t>‹Nº›</a:t>
            </a:fld>
            <a:endParaRPr lang="es-ES"/>
          </a:p>
        </p:txBody>
      </p:sp>
    </p:spTree>
    <p:extLst>
      <p:ext uri="{BB962C8B-B14F-4D97-AF65-F5344CB8AC3E}">
        <p14:creationId xmlns:p14="http://schemas.microsoft.com/office/powerpoint/2010/main" val="2656684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DC75A744-9DB9-40AC-AB1D-19B8150D20E2}" type="datetimeFigureOut">
              <a:rPr lang="es-ES" smtClean="0"/>
              <a:pPr/>
              <a:t>03/10/2024</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C1BD6B5C-F066-44C5-9645-495F9CC2FAFA}" type="slidenum">
              <a:rPr lang="es-ES" smtClean="0"/>
              <a:pPr/>
              <a:t>‹Nº›</a:t>
            </a:fld>
            <a:endParaRPr lang="es-ES"/>
          </a:p>
        </p:txBody>
      </p:sp>
    </p:spTree>
    <p:extLst>
      <p:ext uri="{BB962C8B-B14F-4D97-AF65-F5344CB8AC3E}">
        <p14:creationId xmlns:p14="http://schemas.microsoft.com/office/powerpoint/2010/main" val="150538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29842" y="2505075"/>
            <a:ext cx="3868340"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4629150" y="2505075"/>
            <a:ext cx="3887391"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DC75A744-9DB9-40AC-AB1D-19B8150D20E2}" type="datetimeFigureOut">
              <a:rPr lang="es-ES" smtClean="0"/>
              <a:pPr/>
              <a:t>03/10/2024</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C1BD6B5C-F066-44C5-9645-495F9CC2FAFA}" type="slidenum">
              <a:rPr lang="es-ES" smtClean="0"/>
              <a:pPr/>
              <a:t>‹Nº›</a:t>
            </a:fld>
            <a:endParaRPr lang="es-ES"/>
          </a:p>
        </p:txBody>
      </p:sp>
    </p:spTree>
    <p:extLst>
      <p:ext uri="{BB962C8B-B14F-4D97-AF65-F5344CB8AC3E}">
        <p14:creationId xmlns:p14="http://schemas.microsoft.com/office/powerpoint/2010/main" val="2683608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DC75A744-9DB9-40AC-AB1D-19B8150D20E2}" type="datetimeFigureOut">
              <a:rPr lang="es-ES" smtClean="0"/>
              <a:pPr/>
              <a:t>03/10/2024</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C1BD6B5C-F066-44C5-9645-495F9CC2FAFA}" type="slidenum">
              <a:rPr lang="es-ES" smtClean="0"/>
              <a:pPr/>
              <a:t>‹Nº›</a:t>
            </a:fld>
            <a:endParaRPr lang="es-ES"/>
          </a:p>
        </p:txBody>
      </p:sp>
    </p:spTree>
    <p:extLst>
      <p:ext uri="{BB962C8B-B14F-4D97-AF65-F5344CB8AC3E}">
        <p14:creationId xmlns:p14="http://schemas.microsoft.com/office/powerpoint/2010/main" val="2766302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75A744-9DB9-40AC-AB1D-19B8150D20E2}" type="datetimeFigureOut">
              <a:rPr lang="es-ES" smtClean="0"/>
              <a:pPr/>
              <a:t>03/10/2024</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C1BD6B5C-F066-44C5-9645-495F9CC2FAFA}" type="slidenum">
              <a:rPr lang="es-ES" smtClean="0"/>
              <a:pPr/>
              <a:t>‹Nº›</a:t>
            </a:fld>
            <a:endParaRPr lang="es-ES"/>
          </a:p>
        </p:txBody>
      </p:sp>
    </p:spTree>
    <p:extLst>
      <p:ext uri="{BB962C8B-B14F-4D97-AF65-F5344CB8AC3E}">
        <p14:creationId xmlns:p14="http://schemas.microsoft.com/office/powerpoint/2010/main" val="698665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C75A744-9DB9-40AC-AB1D-19B8150D20E2}" type="datetimeFigureOut">
              <a:rPr lang="es-ES" smtClean="0"/>
              <a:pPr/>
              <a:t>03/10/2024</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C1BD6B5C-F066-44C5-9645-495F9CC2FAFA}" type="slidenum">
              <a:rPr lang="es-ES" smtClean="0"/>
              <a:pPr/>
              <a:t>‹Nº›</a:t>
            </a:fld>
            <a:endParaRPr lang="es-ES"/>
          </a:p>
        </p:txBody>
      </p:sp>
    </p:spTree>
    <p:extLst>
      <p:ext uri="{BB962C8B-B14F-4D97-AF65-F5344CB8AC3E}">
        <p14:creationId xmlns:p14="http://schemas.microsoft.com/office/powerpoint/2010/main" val="670775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C75A744-9DB9-40AC-AB1D-19B8150D20E2}" type="datetimeFigureOut">
              <a:rPr lang="es-ES" smtClean="0"/>
              <a:pPr/>
              <a:t>03/10/2024</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C1BD6B5C-F066-44C5-9645-495F9CC2FAFA}" type="slidenum">
              <a:rPr lang="es-ES" smtClean="0"/>
              <a:pPr/>
              <a:t>‹Nº›</a:t>
            </a:fld>
            <a:endParaRPr lang="es-ES"/>
          </a:p>
        </p:txBody>
      </p:sp>
    </p:spTree>
    <p:extLst>
      <p:ext uri="{BB962C8B-B14F-4D97-AF65-F5344CB8AC3E}">
        <p14:creationId xmlns:p14="http://schemas.microsoft.com/office/powerpoint/2010/main" val="152572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C75A744-9DB9-40AC-AB1D-19B8150D20E2}" type="datetimeFigureOut">
              <a:rPr lang="es-ES" smtClean="0"/>
              <a:pPr/>
              <a:t>03/10/2024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C1BD6B5C-F066-44C5-9645-495F9CC2FAFA}" type="slidenum">
              <a:rPr lang="es-ES" smtClean="0"/>
              <a:pPr/>
              <a:t>‹Nº›</a:t>
            </a:fld>
            <a:endParaRPr lang="es-ES"/>
          </a:p>
        </p:txBody>
      </p:sp>
    </p:spTree>
    <p:extLst>
      <p:ext uri="{BB962C8B-B14F-4D97-AF65-F5344CB8AC3E}">
        <p14:creationId xmlns:p14="http://schemas.microsoft.com/office/powerpoint/2010/main" val="150329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C75A744-9DB9-40AC-AB1D-19B8150D20E2}" type="datetimeFigureOut">
              <a:rPr lang="es-ES" smtClean="0"/>
              <a:pPr/>
              <a:t>03/10/2024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C1BD6B5C-F066-44C5-9645-495F9CC2FAFA}" type="slidenum">
              <a:rPr lang="es-ES" smtClean="0"/>
              <a:pPr/>
              <a:t>‹Nº›</a:t>
            </a:fld>
            <a:endParaRPr lang="es-ES"/>
          </a:p>
        </p:txBody>
      </p:sp>
    </p:spTree>
    <p:extLst>
      <p:ext uri="{BB962C8B-B14F-4D97-AF65-F5344CB8AC3E}">
        <p14:creationId xmlns:p14="http://schemas.microsoft.com/office/powerpoint/2010/main" val="536423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75A744-9DB9-40AC-AB1D-19B8150D20E2}" type="datetimeFigureOut">
              <a:rPr lang="es-ES" smtClean="0"/>
              <a:pPr/>
              <a:t>03/10/2024</a:t>
            </a:fld>
            <a:endParaRPr lang="es-E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BD6B5C-F066-44C5-9645-495F9CC2FAFA}" type="slidenum">
              <a:rPr lang="es-ES" smtClean="0"/>
              <a:pPr/>
              <a:t>‹Nº›</a:t>
            </a:fld>
            <a:endParaRPr lang="es-ES"/>
          </a:p>
        </p:txBody>
      </p:sp>
    </p:spTree>
    <p:extLst>
      <p:ext uri="{BB962C8B-B14F-4D97-AF65-F5344CB8AC3E}">
        <p14:creationId xmlns:p14="http://schemas.microsoft.com/office/powerpoint/2010/main" val="976296376"/>
      </p:ext>
    </p:extLst>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3568" y="188641"/>
            <a:ext cx="7772400" cy="1080119"/>
          </a:xfrm>
        </p:spPr>
        <p:txBody>
          <a:bodyPr/>
          <a:lstStyle/>
          <a:p>
            <a:pPr algn="r"/>
            <a:r>
              <a:rPr lang="es-ES" dirty="0"/>
              <a:t>INTRODUCCIÓN</a:t>
            </a:r>
          </a:p>
        </p:txBody>
      </p:sp>
      <p:sp>
        <p:nvSpPr>
          <p:cNvPr id="5" name="2 Subtítulo"/>
          <p:cNvSpPr>
            <a:spLocks noGrp="1"/>
          </p:cNvSpPr>
          <p:nvPr>
            <p:ph type="subTitle" idx="1"/>
          </p:nvPr>
        </p:nvSpPr>
        <p:spPr>
          <a:xfrm>
            <a:off x="611560" y="1412776"/>
            <a:ext cx="7776864" cy="5328592"/>
          </a:xfrm>
        </p:spPr>
        <p:txBody>
          <a:bodyPr>
            <a:normAutofit fontScale="85000" lnSpcReduction="10000"/>
          </a:bodyPr>
          <a:lstStyle/>
          <a:p>
            <a:pPr algn="just"/>
            <a:r>
              <a:rPr lang="es-GT" dirty="0">
                <a:solidFill>
                  <a:schemeClr val="tx1"/>
                </a:solidFill>
              </a:rPr>
              <a:t>Podemos definir a los </a:t>
            </a:r>
            <a:r>
              <a:rPr lang="es-GT" b="1" dirty="0">
                <a:solidFill>
                  <a:schemeClr val="tx1"/>
                </a:solidFill>
              </a:rPr>
              <a:t>Métodos de Solución de Problemas Lineales </a:t>
            </a:r>
            <a:r>
              <a:rPr lang="es-GT" dirty="0">
                <a:solidFill>
                  <a:schemeClr val="tx1"/>
                </a:solidFill>
              </a:rPr>
              <a:t>como herramientas que permiten encontrar soluciones óptimas a problemas que cumplen principalmente las siguientes condiciones:</a:t>
            </a:r>
          </a:p>
          <a:p>
            <a:pPr algn="just"/>
            <a:endParaRPr lang="es-ES" dirty="0">
              <a:solidFill>
                <a:schemeClr val="tx1"/>
              </a:solidFill>
            </a:endParaRPr>
          </a:p>
          <a:p>
            <a:pPr lvl="0" algn="just"/>
            <a:r>
              <a:rPr lang="es-GT" dirty="0">
                <a:solidFill>
                  <a:schemeClr val="tx1"/>
                </a:solidFill>
              </a:rPr>
              <a:t>Las </a:t>
            </a:r>
            <a:r>
              <a:rPr lang="es-GT" b="1" dirty="0">
                <a:solidFill>
                  <a:schemeClr val="tx1"/>
                </a:solidFill>
              </a:rPr>
              <a:t>variables de decisión</a:t>
            </a:r>
            <a:r>
              <a:rPr lang="es-GT" dirty="0">
                <a:solidFill>
                  <a:schemeClr val="tx1"/>
                </a:solidFill>
              </a:rPr>
              <a:t> implicadas en el problema son no negativas.</a:t>
            </a:r>
            <a:endParaRPr lang="es-ES" dirty="0">
              <a:solidFill>
                <a:schemeClr val="tx1"/>
              </a:solidFill>
            </a:endParaRPr>
          </a:p>
          <a:p>
            <a:pPr algn="just"/>
            <a:r>
              <a:rPr lang="es-GT" dirty="0">
                <a:solidFill>
                  <a:schemeClr val="tx1"/>
                </a:solidFill>
              </a:rPr>
              <a:t> </a:t>
            </a:r>
            <a:endParaRPr lang="es-ES" dirty="0">
              <a:solidFill>
                <a:schemeClr val="tx1"/>
              </a:solidFill>
            </a:endParaRPr>
          </a:p>
          <a:p>
            <a:pPr lvl="0" algn="just"/>
            <a:r>
              <a:rPr lang="es-GT" dirty="0">
                <a:solidFill>
                  <a:schemeClr val="tx1"/>
                </a:solidFill>
              </a:rPr>
              <a:t>El criterio para seleccionar los mejores valores para las variables de decisión, </a:t>
            </a:r>
            <a:r>
              <a:rPr lang="es-GT" b="1" dirty="0">
                <a:solidFill>
                  <a:schemeClr val="tx1"/>
                </a:solidFill>
              </a:rPr>
              <a:t>función objetivo</a:t>
            </a:r>
            <a:r>
              <a:rPr lang="es-GT" dirty="0">
                <a:solidFill>
                  <a:schemeClr val="tx1"/>
                </a:solidFill>
              </a:rPr>
              <a:t>, pueden ser descritos como una función lineal de estas variables.</a:t>
            </a:r>
            <a:endParaRPr lang="es-ES" dirty="0">
              <a:solidFill>
                <a:schemeClr val="tx1"/>
              </a:solidFill>
            </a:endParaRPr>
          </a:p>
          <a:p>
            <a:pPr algn="just"/>
            <a:r>
              <a:rPr lang="es-GT" dirty="0">
                <a:solidFill>
                  <a:schemeClr val="tx1"/>
                </a:solidFill>
              </a:rPr>
              <a:t> </a:t>
            </a:r>
            <a:endParaRPr lang="es-ES" dirty="0">
              <a:solidFill>
                <a:schemeClr val="tx1"/>
              </a:solidFill>
            </a:endParaRPr>
          </a:p>
          <a:p>
            <a:pPr lvl="0" algn="just"/>
            <a:r>
              <a:rPr lang="es-GT" dirty="0">
                <a:solidFill>
                  <a:schemeClr val="tx1"/>
                </a:solidFill>
              </a:rPr>
              <a:t>Las reglas del funcionamiento del sistema pueden expresarse como un conjunto de igualdades o desigualdades lineales. </a:t>
            </a:r>
          </a:p>
          <a:p>
            <a:pPr lvl="0" algn="just"/>
            <a:endParaRPr lang="es-GT" dirty="0">
              <a:solidFill>
                <a:schemeClr val="tx1"/>
              </a:solidFill>
            </a:endParaRPr>
          </a:p>
          <a:p>
            <a:pPr lvl="0" algn="just"/>
            <a:r>
              <a:rPr lang="es-GT" dirty="0">
                <a:solidFill>
                  <a:schemeClr val="tx1"/>
                </a:solidFill>
              </a:rPr>
              <a:t>Los valores de las variables de decisión que verifican estas desigualdades, 	se denominan soluciones factibles del problema y la región donde se asocian los puntos factibles es llamado región de factibilidad del problema.</a:t>
            </a:r>
            <a:endParaRPr lang="es-ES" dirty="0">
              <a:solidFill>
                <a:schemeClr val="tx1"/>
              </a:solidFill>
            </a:endParaRPr>
          </a:p>
          <a:p>
            <a:pPr algn="just"/>
            <a:endParaRPr lang="es-ES" dirty="0">
              <a:solidFill>
                <a:schemeClr val="tx1"/>
              </a:solidFill>
            </a:endParaRPr>
          </a:p>
        </p:txBody>
      </p:sp>
    </p:spTree>
    <p:extLst>
      <p:ext uri="{BB962C8B-B14F-4D97-AF65-F5344CB8AC3E}">
        <p14:creationId xmlns:p14="http://schemas.microsoft.com/office/powerpoint/2010/main" val="2516977378"/>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3" presetClass="entr" presetSubtype="10" fill="hold" grpId="0" nodeType="after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blinds(horizontal)">
                                      <p:cBhvr>
                                        <p:cTn id="14" dur="500"/>
                                        <p:tgtEl>
                                          <p:spTgt spid="5">
                                            <p:txEl>
                                              <p:pRg st="0" end="0"/>
                                            </p:txEl>
                                          </p:spTgt>
                                        </p:tgtEl>
                                      </p:cBhvr>
                                    </p:animEffect>
                                  </p:childTnLst>
                                </p:cTn>
                              </p:par>
                            </p:childTnLst>
                          </p:cTn>
                        </p:par>
                        <p:par>
                          <p:cTn id="15" fill="hold">
                            <p:stCondLst>
                              <p:cond delay="1500"/>
                            </p:stCondLst>
                            <p:childTnLst>
                              <p:par>
                                <p:cTn id="16" presetID="3" presetClass="entr" presetSubtype="10" fill="hold" grpId="0" nodeType="after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animEffect transition="in" filter="blinds(horizontal)">
                                      <p:cBhvr>
                                        <p:cTn id="18" dur="500"/>
                                        <p:tgtEl>
                                          <p:spTgt spid="5">
                                            <p:txEl>
                                              <p:pRg st="2" end="2"/>
                                            </p:txEl>
                                          </p:spTgt>
                                        </p:tgtEl>
                                      </p:cBhvr>
                                    </p:animEffect>
                                  </p:childTnLst>
                                </p:cTn>
                              </p:par>
                            </p:childTnLst>
                          </p:cTn>
                        </p:par>
                        <p:par>
                          <p:cTn id="19" fill="hold">
                            <p:stCondLst>
                              <p:cond delay="2000"/>
                            </p:stCondLst>
                            <p:childTnLst>
                              <p:par>
                                <p:cTn id="20" presetID="3" presetClass="entr" presetSubtype="10" fill="hold" grpId="0" nodeType="after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linds(horizontal)">
                                      <p:cBhvr>
                                        <p:cTn id="22" dur="500"/>
                                        <p:tgtEl>
                                          <p:spTgt spid="5">
                                            <p:txEl>
                                              <p:pRg st="3" end="3"/>
                                            </p:txEl>
                                          </p:spTgt>
                                        </p:tgtEl>
                                      </p:cBhvr>
                                    </p:animEffect>
                                  </p:childTnLst>
                                </p:cTn>
                              </p:par>
                            </p:childTnLst>
                          </p:cTn>
                        </p:par>
                        <p:par>
                          <p:cTn id="23" fill="hold">
                            <p:stCondLst>
                              <p:cond delay="2500"/>
                            </p:stCondLst>
                            <p:childTnLst>
                              <p:par>
                                <p:cTn id="24" presetID="3" presetClass="entr" presetSubtype="10" fill="hold" grpId="0" nodeType="afterEffect">
                                  <p:stCondLst>
                                    <p:cond delay="0"/>
                                  </p:stCondLst>
                                  <p:childTnLst>
                                    <p:set>
                                      <p:cBhvr>
                                        <p:cTn id="25" dur="1" fill="hold">
                                          <p:stCondLst>
                                            <p:cond delay="0"/>
                                          </p:stCondLst>
                                        </p:cTn>
                                        <p:tgtEl>
                                          <p:spTgt spid="5">
                                            <p:txEl>
                                              <p:pRg st="4" end="4"/>
                                            </p:txEl>
                                          </p:spTgt>
                                        </p:tgtEl>
                                        <p:attrNameLst>
                                          <p:attrName>style.visibility</p:attrName>
                                        </p:attrNameLst>
                                      </p:cBhvr>
                                      <p:to>
                                        <p:strVal val="visible"/>
                                      </p:to>
                                    </p:set>
                                    <p:animEffect transition="in" filter="blinds(horizontal)">
                                      <p:cBhvr>
                                        <p:cTn id="26" dur="500"/>
                                        <p:tgtEl>
                                          <p:spTgt spid="5">
                                            <p:txEl>
                                              <p:pRg st="4" end="4"/>
                                            </p:txEl>
                                          </p:spTgt>
                                        </p:tgtEl>
                                      </p:cBhvr>
                                    </p:animEffect>
                                  </p:childTnLst>
                                </p:cTn>
                              </p:par>
                            </p:childTnLst>
                          </p:cTn>
                        </p:par>
                        <p:par>
                          <p:cTn id="27" fill="hold">
                            <p:stCondLst>
                              <p:cond delay="3000"/>
                            </p:stCondLst>
                            <p:childTnLst>
                              <p:par>
                                <p:cTn id="28" presetID="3" presetClass="entr" presetSubtype="10" fill="hold" grpId="0" nodeType="afterEffect">
                                  <p:stCondLst>
                                    <p:cond delay="0"/>
                                  </p:stCondLst>
                                  <p:childTnLst>
                                    <p:set>
                                      <p:cBhvr>
                                        <p:cTn id="29" dur="1" fill="hold">
                                          <p:stCondLst>
                                            <p:cond delay="0"/>
                                          </p:stCondLst>
                                        </p:cTn>
                                        <p:tgtEl>
                                          <p:spTgt spid="5">
                                            <p:txEl>
                                              <p:pRg st="5" end="5"/>
                                            </p:txEl>
                                          </p:spTgt>
                                        </p:tgtEl>
                                        <p:attrNameLst>
                                          <p:attrName>style.visibility</p:attrName>
                                        </p:attrNameLst>
                                      </p:cBhvr>
                                      <p:to>
                                        <p:strVal val="visible"/>
                                      </p:to>
                                    </p:set>
                                    <p:animEffect transition="in" filter="blinds(horizontal)">
                                      <p:cBhvr>
                                        <p:cTn id="30" dur="500"/>
                                        <p:tgtEl>
                                          <p:spTgt spid="5">
                                            <p:txEl>
                                              <p:pRg st="5" end="5"/>
                                            </p:txEl>
                                          </p:spTgt>
                                        </p:tgtEl>
                                      </p:cBhvr>
                                    </p:animEffect>
                                  </p:childTnLst>
                                </p:cTn>
                              </p:par>
                            </p:childTnLst>
                          </p:cTn>
                        </p:par>
                        <p:par>
                          <p:cTn id="31" fill="hold">
                            <p:stCondLst>
                              <p:cond delay="3500"/>
                            </p:stCondLst>
                            <p:childTnLst>
                              <p:par>
                                <p:cTn id="32" presetID="3" presetClass="entr" presetSubtype="10" fill="hold" grpId="0" nodeType="afterEffect">
                                  <p:stCondLst>
                                    <p:cond delay="0"/>
                                  </p:stCondLst>
                                  <p:childTnLst>
                                    <p:set>
                                      <p:cBhvr>
                                        <p:cTn id="33" dur="1" fill="hold">
                                          <p:stCondLst>
                                            <p:cond delay="0"/>
                                          </p:stCondLst>
                                        </p:cTn>
                                        <p:tgtEl>
                                          <p:spTgt spid="5">
                                            <p:txEl>
                                              <p:pRg st="6" end="6"/>
                                            </p:txEl>
                                          </p:spTgt>
                                        </p:tgtEl>
                                        <p:attrNameLst>
                                          <p:attrName>style.visibility</p:attrName>
                                        </p:attrNameLst>
                                      </p:cBhvr>
                                      <p:to>
                                        <p:strVal val="visible"/>
                                      </p:to>
                                    </p:set>
                                    <p:animEffect transition="in" filter="blinds(horizontal)">
                                      <p:cBhvr>
                                        <p:cTn id="34" dur="500"/>
                                        <p:tgtEl>
                                          <p:spTgt spid="5">
                                            <p:txEl>
                                              <p:pRg st="6" end="6"/>
                                            </p:txEl>
                                          </p:spTgt>
                                        </p:tgtEl>
                                      </p:cBhvr>
                                    </p:animEffect>
                                  </p:childTnLst>
                                </p:cTn>
                              </p:par>
                            </p:childTnLst>
                          </p:cTn>
                        </p:par>
                        <p:par>
                          <p:cTn id="35" fill="hold">
                            <p:stCondLst>
                              <p:cond delay="4000"/>
                            </p:stCondLst>
                            <p:childTnLst>
                              <p:par>
                                <p:cTn id="36" presetID="3" presetClass="entr" presetSubtype="10" fill="hold" grpId="0" nodeType="afterEffect">
                                  <p:stCondLst>
                                    <p:cond delay="0"/>
                                  </p:stCondLst>
                                  <p:childTnLst>
                                    <p:set>
                                      <p:cBhvr>
                                        <p:cTn id="37" dur="1" fill="hold">
                                          <p:stCondLst>
                                            <p:cond delay="0"/>
                                          </p:stCondLst>
                                        </p:cTn>
                                        <p:tgtEl>
                                          <p:spTgt spid="5">
                                            <p:txEl>
                                              <p:pRg st="8" end="8"/>
                                            </p:txEl>
                                          </p:spTgt>
                                        </p:tgtEl>
                                        <p:attrNameLst>
                                          <p:attrName>style.visibility</p:attrName>
                                        </p:attrNameLst>
                                      </p:cBhvr>
                                      <p:to>
                                        <p:strVal val="visible"/>
                                      </p:to>
                                    </p:set>
                                    <p:animEffect transition="in" filter="blinds(horizontal)">
                                      <p:cBhvr>
                                        <p:cTn id="38"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Subtítulo"/>
          <p:cNvSpPr>
            <a:spLocks noGrp="1"/>
          </p:cNvSpPr>
          <p:nvPr>
            <p:ph type="subTitle" idx="1"/>
          </p:nvPr>
        </p:nvSpPr>
        <p:spPr>
          <a:xfrm>
            <a:off x="467544" y="404664"/>
            <a:ext cx="8151440" cy="5400600"/>
          </a:xfrm>
        </p:spPr>
        <p:txBody>
          <a:bodyPr>
            <a:noAutofit/>
          </a:bodyPr>
          <a:lstStyle/>
          <a:p>
            <a:pPr algn="just"/>
            <a:r>
              <a:rPr lang="es-GT" sz="2200" dirty="0"/>
              <a:t>Estos métodos son aceptados en gran parte:</a:t>
            </a:r>
          </a:p>
          <a:p>
            <a:pPr algn="just"/>
            <a:endParaRPr lang="es-GT" sz="2200" dirty="0"/>
          </a:p>
          <a:p>
            <a:pPr lvl="0" algn="just"/>
            <a:r>
              <a:rPr lang="es-GT" sz="2200" dirty="0"/>
              <a:t>Porque la gran cantidad de problemas en ámbitos sociales, económicos, industriales, etc.,  pueden aproximarse mediante un planteamiento lineal.</a:t>
            </a:r>
          </a:p>
          <a:p>
            <a:pPr algn="just"/>
            <a:r>
              <a:rPr lang="es-GT" sz="2200" dirty="0"/>
              <a:t> </a:t>
            </a:r>
          </a:p>
          <a:p>
            <a:pPr lvl="0" algn="just"/>
            <a:r>
              <a:rPr lang="es-GT" sz="2200" dirty="0"/>
              <a:t>Porque existen técnicas eficientes para la resolución de estos modelos.</a:t>
            </a:r>
          </a:p>
          <a:p>
            <a:pPr algn="just"/>
            <a:r>
              <a:rPr lang="es-GT" sz="2200" dirty="0"/>
              <a:t> </a:t>
            </a:r>
          </a:p>
          <a:p>
            <a:pPr lvl="0" algn="just"/>
            <a:r>
              <a:rPr lang="es-GT" sz="2200" dirty="0"/>
              <a:t>Porque existe determinada facilidad para realizar estudios de variación de los parámetros del problema sin abandonar el ámbito lineal.</a:t>
            </a:r>
          </a:p>
          <a:p>
            <a:pPr algn="just"/>
            <a:endParaRPr lang="es-GT" sz="2200" dirty="0"/>
          </a:p>
        </p:txBody>
      </p:sp>
    </p:spTree>
    <p:extLst>
      <p:ext uri="{BB962C8B-B14F-4D97-AF65-F5344CB8AC3E}">
        <p14:creationId xmlns:p14="http://schemas.microsoft.com/office/powerpoint/2010/main" val="3304432093"/>
      </p:ext>
    </p:extLst>
  </p:cSld>
  <p:clrMapOvr>
    <a:masterClrMapping/>
  </p:clrMapOvr>
  <p:transition>
    <p:pull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 calcmode="lin" valueType="num">
                                      <p:cBhvr additive="base">
                                        <p:cTn id="12"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 calcmode="lin" valueType="num">
                                      <p:cBhvr additive="base">
                                        <p:cTn id="17"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 calcmode="lin" valueType="num">
                                      <p:cBhvr additive="base">
                                        <p:cTn id="22"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 calcmode="lin" valueType="num">
                                      <p:cBhvr additive="base">
                                        <p:cTn id="27"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 calcmode="lin" valueType="num">
                                      <p:cBhvr additive="base">
                                        <p:cTn id="32"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lgn="r"/>
            <a:r>
              <a:rPr lang="es-GT" dirty="0"/>
              <a:t>OBJETIVOS</a:t>
            </a:r>
          </a:p>
        </p:txBody>
      </p:sp>
      <p:sp>
        <p:nvSpPr>
          <p:cNvPr id="3" name="2 Marcador de contenido"/>
          <p:cNvSpPr>
            <a:spLocks noGrp="1"/>
          </p:cNvSpPr>
          <p:nvPr>
            <p:ph idx="1"/>
          </p:nvPr>
        </p:nvSpPr>
        <p:spPr/>
        <p:txBody>
          <a:bodyPr/>
          <a:lstStyle/>
          <a:p>
            <a:r>
              <a:rPr lang="es-GT" dirty="0"/>
              <a:t>Describir la técnica M y su criterio de empleo.</a:t>
            </a:r>
          </a:p>
          <a:p>
            <a:r>
              <a:rPr lang="es-GT" dirty="0"/>
              <a:t>Introducir el concepto de variable artificial</a:t>
            </a:r>
          </a:p>
          <a:p>
            <a:r>
              <a:rPr lang="es-GT" dirty="0"/>
              <a:t>Definir el algoritmo a seguir para aplicar la técnica M</a:t>
            </a:r>
          </a:p>
          <a:p>
            <a:r>
              <a:rPr lang="es-GT" dirty="0"/>
              <a:t>Presentar las observaciones relevantes respecto a la aplicación de la técnica M</a:t>
            </a:r>
          </a:p>
          <a:p>
            <a:r>
              <a:rPr lang="es-GT" dirty="0"/>
              <a:t>Ejemplificar la técnica M</a:t>
            </a:r>
          </a:p>
          <a:p>
            <a:endParaRPr lang="es-GT" dirty="0"/>
          </a:p>
        </p:txBody>
      </p:sp>
    </p:spTree>
    <p:extLst>
      <p:ext uri="{BB962C8B-B14F-4D97-AF65-F5344CB8AC3E}">
        <p14:creationId xmlns:p14="http://schemas.microsoft.com/office/powerpoint/2010/main" val="1485696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4" presetClass="entr" presetSubtype="0" ac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ppt_w*0.05"/>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anim calcmode="lin" valueType="num">
                                      <p:cBhvr>
                                        <p:cTn id="9" dur="500" fill="hold"/>
                                        <p:tgtEl>
                                          <p:spTgt spid="2"/>
                                        </p:tgtEl>
                                        <p:attrNameLst>
                                          <p:attrName>ppt_x</p:attrName>
                                        </p:attrNameLst>
                                      </p:cBhvr>
                                      <p:tavLst>
                                        <p:tav tm="0">
                                          <p:val>
                                            <p:strVal val="#ppt_x-.2"/>
                                          </p:val>
                                        </p:tav>
                                        <p:tav tm="100000">
                                          <p:val>
                                            <p:strVal val="#ppt_x"/>
                                          </p:val>
                                        </p:tav>
                                      </p:tavLst>
                                    </p:anim>
                                    <p:anim calcmode="lin" valueType="num">
                                      <p:cBhvr>
                                        <p:cTn id="10" dur="500" fill="hold"/>
                                        <p:tgtEl>
                                          <p:spTgt spid="2"/>
                                        </p:tgtEl>
                                        <p:attrNameLst>
                                          <p:attrName>ppt_y</p:attrName>
                                        </p:attrNameLst>
                                      </p:cBhvr>
                                      <p:tavLst>
                                        <p:tav tm="0">
                                          <p:val>
                                            <p:strVal val="#ppt_y"/>
                                          </p:val>
                                        </p:tav>
                                        <p:tav tm="100000">
                                          <p:val>
                                            <p:strVal val="#ppt_y"/>
                                          </p:val>
                                        </p:tav>
                                      </p:tavLst>
                                    </p:anim>
                                    <p:animEffect transition="in" filter="fade">
                                      <p:cBhvr>
                                        <p:cTn id="11" dur="500"/>
                                        <p:tgtEl>
                                          <p:spTgt spid="2"/>
                                        </p:tgtEl>
                                      </p:cBhvr>
                                    </p:animEffect>
                                  </p:childTnLst>
                                </p:cTn>
                              </p:par>
                            </p:childTnLst>
                          </p:cTn>
                        </p:par>
                        <p:par>
                          <p:cTn id="12" fill="hold">
                            <p:stCondLst>
                              <p:cond delay="500"/>
                            </p:stCondLst>
                            <p:childTnLst>
                              <p:par>
                                <p:cTn id="13" presetID="16" presetClass="entr" presetSubtype="26" fill="hold" grpId="0" nodeType="after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barn(inHorizontal)">
                                      <p:cBhvr>
                                        <p:cTn id="15" dur="500"/>
                                        <p:tgtEl>
                                          <p:spTgt spid="3">
                                            <p:txEl>
                                              <p:pRg st="0" end="0"/>
                                            </p:txEl>
                                          </p:spTgt>
                                        </p:tgtEl>
                                      </p:cBhvr>
                                    </p:animEffect>
                                  </p:childTnLst>
                                </p:cTn>
                              </p:par>
                            </p:childTnLst>
                          </p:cTn>
                        </p:par>
                        <p:par>
                          <p:cTn id="16" fill="hold">
                            <p:stCondLst>
                              <p:cond delay="1000"/>
                            </p:stCondLst>
                            <p:childTnLst>
                              <p:par>
                                <p:cTn id="17" presetID="16" presetClass="entr" presetSubtype="26" fill="hold" grpId="0" nodeType="after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barn(inHorizontal)">
                                      <p:cBhvr>
                                        <p:cTn id="19" dur="500"/>
                                        <p:tgtEl>
                                          <p:spTgt spid="3">
                                            <p:txEl>
                                              <p:pRg st="1" end="1"/>
                                            </p:txEl>
                                          </p:spTgt>
                                        </p:tgtEl>
                                      </p:cBhvr>
                                    </p:animEffect>
                                  </p:childTnLst>
                                </p:cTn>
                              </p:par>
                            </p:childTnLst>
                          </p:cTn>
                        </p:par>
                        <p:par>
                          <p:cTn id="20" fill="hold">
                            <p:stCondLst>
                              <p:cond delay="1500"/>
                            </p:stCondLst>
                            <p:childTnLst>
                              <p:par>
                                <p:cTn id="21" presetID="16" presetClass="entr" presetSubtype="26" fill="hold" grpId="0" nodeType="after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barn(inHorizontal)">
                                      <p:cBhvr>
                                        <p:cTn id="23" dur="500"/>
                                        <p:tgtEl>
                                          <p:spTgt spid="3">
                                            <p:txEl>
                                              <p:pRg st="2" end="2"/>
                                            </p:txEl>
                                          </p:spTgt>
                                        </p:tgtEl>
                                      </p:cBhvr>
                                    </p:animEffect>
                                  </p:childTnLst>
                                </p:cTn>
                              </p:par>
                            </p:childTnLst>
                          </p:cTn>
                        </p:par>
                        <p:par>
                          <p:cTn id="24" fill="hold">
                            <p:stCondLst>
                              <p:cond delay="2000"/>
                            </p:stCondLst>
                            <p:childTnLst>
                              <p:par>
                                <p:cTn id="25" presetID="16" presetClass="entr" presetSubtype="26"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arn(inHorizontal)">
                                      <p:cBhvr>
                                        <p:cTn id="27" dur="500"/>
                                        <p:tgtEl>
                                          <p:spTgt spid="3">
                                            <p:txEl>
                                              <p:pRg st="3" end="3"/>
                                            </p:txEl>
                                          </p:spTgt>
                                        </p:tgtEl>
                                      </p:cBhvr>
                                    </p:animEffect>
                                  </p:childTnLst>
                                </p:cTn>
                              </p:par>
                            </p:childTnLst>
                          </p:cTn>
                        </p:par>
                        <p:par>
                          <p:cTn id="28" fill="hold">
                            <p:stCondLst>
                              <p:cond delay="2500"/>
                            </p:stCondLst>
                            <p:childTnLst>
                              <p:par>
                                <p:cTn id="29" presetID="16" presetClass="entr" presetSubtype="26" fill="hold" grpId="0" nodeType="after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barn(inHorizontal)">
                                      <p:cBhvr>
                                        <p:cTn id="3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3568" y="188641"/>
            <a:ext cx="7772400" cy="1008112"/>
          </a:xfrm>
        </p:spPr>
        <p:txBody>
          <a:bodyPr/>
          <a:lstStyle/>
          <a:p>
            <a:pPr algn="r"/>
            <a:r>
              <a:rPr lang="es-ES" dirty="0"/>
              <a:t>Marco teórico</a:t>
            </a:r>
          </a:p>
        </p:txBody>
      </p:sp>
      <p:sp>
        <p:nvSpPr>
          <p:cNvPr id="3" name="2 Subtítulo"/>
          <p:cNvSpPr>
            <a:spLocks noGrp="1"/>
          </p:cNvSpPr>
          <p:nvPr>
            <p:ph type="subTitle" idx="1"/>
          </p:nvPr>
        </p:nvSpPr>
        <p:spPr>
          <a:xfrm>
            <a:off x="683568" y="908720"/>
            <a:ext cx="7920880" cy="5184576"/>
          </a:xfrm>
        </p:spPr>
        <p:txBody>
          <a:bodyPr>
            <a:normAutofit fontScale="92500" lnSpcReduction="10000"/>
          </a:bodyPr>
          <a:lstStyle/>
          <a:p>
            <a:pPr algn="just"/>
            <a:r>
              <a:rPr lang="es-MX" sz="4000" b="1" dirty="0">
                <a:solidFill>
                  <a:schemeClr val="tx1"/>
                </a:solidFill>
              </a:rPr>
              <a:t>1. Técnica M (M grande):</a:t>
            </a:r>
            <a:endParaRPr lang="es-ES" sz="4000" dirty="0">
              <a:solidFill>
                <a:schemeClr val="tx1"/>
              </a:solidFill>
            </a:endParaRPr>
          </a:p>
          <a:p>
            <a:pPr algn="just"/>
            <a:r>
              <a:rPr lang="es-MX" sz="2800" b="1" dirty="0">
                <a:solidFill>
                  <a:schemeClr val="tx1"/>
                </a:solidFill>
              </a:rPr>
              <a:t>1.1 SOLUCION INICIAL ARTIFICIAL:</a:t>
            </a:r>
            <a:endParaRPr lang="es-ES" sz="2800" dirty="0">
              <a:solidFill>
                <a:schemeClr val="tx1"/>
              </a:solidFill>
            </a:endParaRPr>
          </a:p>
          <a:p>
            <a:pPr algn="just"/>
            <a:r>
              <a:rPr lang="es-MX" sz="2800" b="1" dirty="0">
                <a:solidFill>
                  <a:schemeClr val="tx1"/>
                </a:solidFill>
              </a:rPr>
              <a:t>1.1.1 Variables artificiales:</a:t>
            </a:r>
          </a:p>
          <a:p>
            <a:pPr algn="just"/>
            <a:endParaRPr lang="es-ES" sz="2800" dirty="0">
              <a:solidFill>
                <a:schemeClr val="tx1"/>
              </a:solidFill>
            </a:endParaRPr>
          </a:p>
          <a:p>
            <a:pPr algn="just"/>
            <a:r>
              <a:rPr lang="es-MX" dirty="0">
                <a:solidFill>
                  <a:schemeClr val="tx1"/>
                </a:solidFill>
              </a:rPr>
              <a:t>En los problemas de programación lineal en los cuales el objetivo es optimizar o minimizar y los tipos de restricciones son únicamente del tipo “≤” el método simplex es todo lo que necesitamos para lograr nuestro objetivo, en dicho método hemos utilizado las variables de holgura como una solución inicial factible. </a:t>
            </a:r>
          </a:p>
          <a:p>
            <a:pPr algn="just"/>
            <a:endParaRPr lang="es-MX" dirty="0">
              <a:solidFill>
                <a:schemeClr val="tx1"/>
              </a:solidFill>
            </a:endParaRPr>
          </a:p>
          <a:p>
            <a:pPr algn="just"/>
            <a:r>
              <a:rPr lang="es-MX" dirty="0">
                <a:solidFill>
                  <a:schemeClr val="tx1"/>
                </a:solidFill>
              </a:rPr>
              <a:t>Sin embargo, si la restricciones originales de un problema son del tipo "≥", “=” , ya no tenemos una solución factible inicial preparada. Por lo que es necesario generar una solución inicial. La idea de utilizar Variables Artificiales es muy simple. </a:t>
            </a:r>
          </a:p>
        </p:txBody>
      </p:sp>
    </p:spTree>
    <p:extLst>
      <p:ext uri="{BB962C8B-B14F-4D97-AF65-F5344CB8AC3E}">
        <p14:creationId xmlns:p14="http://schemas.microsoft.com/office/powerpoint/2010/main" val="3304432093"/>
      </p:ext>
    </p:extLst>
  </p:cSld>
  <p:clrMapOvr>
    <a:masterClrMapping/>
  </p:clrMapOvr>
  <p:transition>
    <p:wheel spokes="8"/>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2" presetClass="entr" presetSubtype="4" fill="hold" grpId="0" nodeType="after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6" fill="hold">
                            <p:stCondLst>
                              <p:cond delay="1500"/>
                            </p:stCondLst>
                            <p:childTnLst>
                              <p:par>
                                <p:cTn id="17" presetID="2" presetClass="entr" presetSubtype="4" fill="hold" grpId="0" nodeType="after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21" fill="hold">
                            <p:stCondLst>
                              <p:cond delay="2000"/>
                            </p:stCondLst>
                            <p:childTnLst>
                              <p:par>
                                <p:cTn id="22" presetID="2" presetClass="entr" presetSubtype="4" fill="hold" grpId="0" nodeType="after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6" fill="hold">
                            <p:stCondLst>
                              <p:cond delay="2500"/>
                            </p:stCondLst>
                            <p:childTnLst>
                              <p:par>
                                <p:cTn id="27" presetID="2" presetClass="entr" presetSubtype="4" fill="hold" grpId="0" nodeType="after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31" fill="hold">
                            <p:stCondLst>
                              <p:cond delay="3000"/>
                            </p:stCondLst>
                            <p:childTnLst>
                              <p:par>
                                <p:cTn id="32" presetID="2" presetClass="entr" presetSubtype="4" fill="hold" grpId="0" nodeType="after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 calcmode="lin" valueType="num">
                                      <p:cBhvr additive="base">
                                        <p:cTn id="34"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83568" y="188641"/>
            <a:ext cx="7772400" cy="1080120"/>
          </a:xfrm>
        </p:spPr>
        <p:txBody>
          <a:bodyPr/>
          <a:lstStyle/>
          <a:p>
            <a:pPr algn="r"/>
            <a:r>
              <a:rPr lang="es-ES" dirty="0"/>
              <a:t>TÉCNICA M</a:t>
            </a:r>
          </a:p>
        </p:txBody>
      </p:sp>
      <p:sp>
        <p:nvSpPr>
          <p:cNvPr id="3" name="2 Subtítulo"/>
          <p:cNvSpPr>
            <a:spLocks noGrp="1"/>
          </p:cNvSpPr>
          <p:nvPr>
            <p:ph type="subTitle" idx="1"/>
          </p:nvPr>
        </p:nvSpPr>
        <p:spPr>
          <a:xfrm>
            <a:off x="683568" y="1484784"/>
            <a:ext cx="7992888" cy="4464496"/>
          </a:xfrm>
        </p:spPr>
        <p:txBody>
          <a:bodyPr>
            <a:normAutofit fontScale="92500" lnSpcReduction="10000"/>
          </a:bodyPr>
          <a:lstStyle/>
          <a:p>
            <a:pPr algn="just"/>
            <a:r>
              <a:rPr lang="es-MX" sz="2800" dirty="0">
                <a:solidFill>
                  <a:schemeClr val="tx1"/>
                </a:solidFill>
              </a:rPr>
              <a:t>Es necesario sumar una variable no negativas a todas la ecuaciones que no tengan variables básicas iniciales (de holgura). </a:t>
            </a:r>
          </a:p>
          <a:p>
            <a:pPr algn="just"/>
            <a:endParaRPr lang="es-MX" sz="2200" dirty="0">
              <a:solidFill>
                <a:schemeClr val="tx1"/>
              </a:solidFill>
            </a:endParaRPr>
          </a:p>
          <a:p>
            <a:pPr algn="just"/>
            <a:r>
              <a:rPr lang="es-MX" sz="2800" dirty="0">
                <a:solidFill>
                  <a:schemeClr val="tx1"/>
                </a:solidFill>
              </a:rPr>
              <a:t>Las variables agregadas desempeñará la misma función que una variable de holgura. </a:t>
            </a:r>
          </a:p>
          <a:p>
            <a:pPr algn="just"/>
            <a:endParaRPr lang="es-MX" sz="2800" dirty="0">
              <a:solidFill>
                <a:schemeClr val="tx1"/>
              </a:solidFill>
            </a:endParaRPr>
          </a:p>
          <a:p>
            <a:pPr algn="just"/>
            <a:r>
              <a:rPr lang="es-MX" sz="2800" dirty="0">
                <a:solidFill>
                  <a:schemeClr val="tx1"/>
                </a:solidFill>
              </a:rPr>
              <a:t>Sin embargo, como estas variables no tienen un significado físico desde el punto de vista del problema original (de aquí el nombre de "artificial"), el procedimiento será valido sólo si hacemos que estas variables sean cero cuando se llegue al óptimo.</a:t>
            </a:r>
            <a:endParaRPr lang="es-ES" sz="2800" dirty="0">
              <a:solidFill>
                <a:schemeClr val="tx1"/>
              </a:solidFill>
            </a:endParaRPr>
          </a:p>
          <a:p>
            <a:pPr algn="just"/>
            <a:endParaRPr lang="es-ES" sz="2800" dirty="0"/>
          </a:p>
        </p:txBody>
      </p:sp>
    </p:spTree>
    <p:extLst>
      <p:ext uri="{BB962C8B-B14F-4D97-AF65-F5344CB8AC3E}">
        <p14:creationId xmlns:p14="http://schemas.microsoft.com/office/powerpoint/2010/main" val="3304432093"/>
      </p:ext>
    </p:extLst>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8" presetClass="entr" presetSubtype="0" accel="5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8" dur="1000" fill="hold"/>
                                        <p:tgtEl>
                                          <p:spTgt spid="2"/>
                                        </p:tgtEl>
                                        <p:attrNameLst>
                                          <p:attrName>ppt_x</p:attrName>
                                        </p:attrNameLst>
                                      </p:cBhvr>
                                      <p:tavLst>
                                        <p:tav tm="0">
                                          <p:val>
                                            <p:fltVal val="-1"/>
                                          </p:val>
                                        </p:tav>
                                        <p:tav tm="50000">
                                          <p:val>
                                            <p:fltVal val="0.95"/>
                                          </p:val>
                                        </p:tav>
                                        <p:tav tm="100000">
                                          <p:val>
                                            <p:strVal val="#ppt_x"/>
                                          </p:val>
                                        </p:tav>
                                      </p:tavLst>
                                    </p:anim>
                                    <p:anim calcmode="lin" valueType="num">
                                      <p:cBhvr>
                                        <p:cTn id="9" dur="1000" fill="hold"/>
                                        <p:tgtEl>
                                          <p:spTgt spid="2"/>
                                        </p:tgtEl>
                                        <p:attrNameLst>
                                          <p:attrName>ppt_y</p:attrName>
                                        </p:attrNameLst>
                                      </p:cBhvr>
                                      <p:tavLst>
                                        <p:tav tm="0">
                                          <p:val>
                                            <p:strVal val="#ppt_y"/>
                                          </p:val>
                                        </p:tav>
                                        <p:tav tm="100000">
                                          <p:val>
                                            <p:strVal val="#ppt_y"/>
                                          </p:val>
                                        </p:tav>
                                      </p:tavLst>
                                    </p:anim>
                                    <p:animEffect transition="in" filter="fade">
                                      <p:cBhvr>
                                        <p:cTn id="10" dur="1000"/>
                                        <p:tgtEl>
                                          <p:spTgt spid="2"/>
                                        </p:tgtEl>
                                      </p:cBhvr>
                                    </p:animEffect>
                                  </p:childTnLst>
                                </p:cTn>
                              </p:par>
                            </p:childTnLst>
                          </p:cTn>
                        </p:par>
                        <p:par>
                          <p:cTn id="11" fill="hold">
                            <p:stCondLst>
                              <p:cond delay="1000"/>
                            </p:stCondLst>
                            <p:childTnLst>
                              <p:par>
                                <p:cTn id="12" presetID="26" presetClass="entr" presetSubtype="0" fill="hold" grpId="0" nodeType="after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580">
                                          <p:stCondLst>
                                            <p:cond delay="0"/>
                                          </p:stCondLst>
                                        </p:cTn>
                                        <p:tgtEl>
                                          <p:spTgt spid="3">
                                            <p:txEl>
                                              <p:pRg st="0" end="0"/>
                                            </p:txEl>
                                          </p:spTgt>
                                        </p:tgtEl>
                                      </p:cBhvr>
                                    </p:animEffect>
                                    <p:anim calcmode="lin" valueType="num">
                                      <p:cBhvr>
                                        <p:cTn id="15"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3">
                                            <p:txEl>
                                              <p:pRg st="0" end="0"/>
                                            </p:txEl>
                                          </p:spTgt>
                                        </p:tgtEl>
                                      </p:cBhvr>
                                      <p:to x="100000" y="60000"/>
                                    </p:animScale>
                                    <p:animScale>
                                      <p:cBhvr>
                                        <p:cTn id="21" dur="166" decel="50000">
                                          <p:stCondLst>
                                            <p:cond delay="676"/>
                                          </p:stCondLst>
                                        </p:cTn>
                                        <p:tgtEl>
                                          <p:spTgt spid="3">
                                            <p:txEl>
                                              <p:pRg st="0" end="0"/>
                                            </p:txEl>
                                          </p:spTgt>
                                        </p:tgtEl>
                                      </p:cBhvr>
                                      <p:to x="100000" y="100000"/>
                                    </p:animScale>
                                    <p:animScale>
                                      <p:cBhvr>
                                        <p:cTn id="22" dur="26">
                                          <p:stCondLst>
                                            <p:cond delay="1312"/>
                                          </p:stCondLst>
                                        </p:cTn>
                                        <p:tgtEl>
                                          <p:spTgt spid="3">
                                            <p:txEl>
                                              <p:pRg st="0" end="0"/>
                                            </p:txEl>
                                          </p:spTgt>
                                        </p:tgtEl>
                                      </p:cBhvr>
                                      <p:to x="100000" y="80000"/>
                                    </p:animScale>
                                    <p:animScale>
                                      <p:cBhvr>
                                        <p:cTn id="23" dur="166" decel="50000">
                                          <p:stCondLst>
                                            <p:cond delay="1338"/>
                                          </p:stCondLst>
                                        </p:cTn>
                                        <p:tgtEl>
                                          <p:spTgt spid="3">
                                            <p:txEl>
                                              <p:pRg st="0" end="0"/>
                                            </p:txEl>
                                          </p:spTgt>
                                        </p:tgtEl>
                                      </p:cBhvr>
                                      <p:to x="100000" y="100000"/>
                                    </p:animScale>
                                    <p:animScale>
                                      <p:cBhvr>
                                        <p:cTn id="24" dur="26">
                                          <p:stCondLst>
                                            <p:cond delay="1642"/>
                                          </p:stCondLst>
                                        </p:cTn>
                                        <p:tgtEl>
                                          <p:spTgt spid="3">
                                            <p:txEl>
                                              <p:pRg st="0" end="0"/>
                                            </p:txEl>
                                          </p:spTgt>
                                        </p:tgtEl>
                                      </p:cBhvr>
                                      <p:to x="100000" y="90000"/>
                                    </p:animScale>
                                    <p:animScale>
                                      <p:cBhvr>
                                        <p:cTn id="25" dur="166" decel="50000">
                                          <p:stCondLst>
                                            <p:cond delay="1668"/>
                                          </p:stCondLst>
                                        </p:cTn>
                                        <p:tgtEl>
                                          <p:spTgt spid="3">
                                            <p:txEl>
                                              <p:pRg st="0" end="0"/>
                                            </p:txEl>
                                          </p:spTgt>
                                        </p:tgtEl>
                                      </p:cBhvr>
                                      <p:to x="100000" y="100000"/>
                                    </p:animScale>
                                    <p:animScale>
                                      <p:cBhvr>
                                        <p:cTn id="26" dur="26">
                                          <p:stCondLst>
                                            <p:cond delay="1808"/>
                                          </p:stCondLst>
                                        </p:cTn>
                                        <p:tgtEl>
                                          <p:spTgt spid="3">
                                            <p:txEl>
                                              <p:pRg st="0" end="0"/>
                                            </p:txEl>
                                          </p:spTgt>
                                        </p:tgtEl>
                                      </p:cBhvr>
                                      <p:to x="100000" y="95000"/>
                                    </p:animScale>
                                    <p:animScale>
                                      <p:cBhvr>
                                        <p:cTn id="27" dur="166" decel="50000">
                                          <p:stCondLst>
                                            <p:cond delay="1834"/>
                                          </p:stCondLst>
                                        </p:cTn>
                                        <p:tgtEl>
                                          <p:spTgt spid="3">
                                            <p:txEl>
                                              <p:pRg st="0" end="0"/>
                                            </p:txEl>
                                          </p:spTgt>
                                        </p:tgtEl>
                                      </p:cBhvr>
                                      <p:to x="100000" y="100000"/>
                                    </p:animScale>
                                  </p:childTnLst>
                                </p:cTn>
                              </p:par>
                            </p:childTnLst>
                          </p:cTn>
                        </p:par>
                        <p:par>
                          <p:cTn id="28" fill="hold">
                            <p:stCondLst>
                              <p:cond delay="3000"/>
                            </p:stCondLst>
                            <p:childTnLst>
                              <p:par>
                                <p:cTn id="29" presetID="26" presetClass="entr" presetSubtype="0" fill="hold" grpId="0" nodeType="after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Effect transition="in" filter="wipe(down)">
                                      <p:cBhvr>
                                        <p:cTn id="31" dur="580">
                                          <p:stCondLst>
                                            <p:cond delay="0"/>
                                          </p:stCondLst>
                                        </p:cTn>
                                        <p:tgtEl>
                                          <p:spTgt spid="3">
                                            <p:txEl>
                                              <p:pRg st="2" end="2"/>
                                            </p:txEl>
                                          </p:spTgt>
                                        </p:tgtEl>
                                      </p:cBhvr>
                                    </p:animEffect>
                                    <p:anim calcmode="lin" valueType="num">
                                      <p:cBhvr>
                                        <p:cTn id="32"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33"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34"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35"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36"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37" dur="26">
                                          <p:stCondLst>
                                            <p:cond delay="650"/>
                                          </p:stCondLst>
                                        </p:cTn>
                                        <p:tgtEl>
                                          <p:spTgt spid="3">
                                            <p:txEl>
                                              <p:pRg st="2" end="2"/>
                                            </p:txEl>
                                          </p:spTgt>
                                        </p:tgtEl>
                                      </p:cBhvr>
                                      <p:to x="100000" y="60000"/>
                                    </p:animScale>
                                    <p:animScale>
                                      <p:cBhvr>
                                        <p:cTn id="38" dur="166" decel="50000">
                                          <p:stCondLst>
                                            <p:cond delay="676"/>
                                          </p:stCondLst>
                                        </p:cTn>
                                        <p:tgtEl>
                                          <p:spTgt spid="3">
                                            <p:txEl>
                                              <p:pRg st="2" end="2"/>
                                            </p:txEl>
                                          </p:spTgt>
                                        </p:tgtEl>
                                      </p:cBhvr>
                                      <p:to x="100000" y="100000"/>
                                    </p:animScale>
                                    <p:animScale>
                                      <p:cBhvr>
                                        <p:cTn id="39" dur="26">
                                          <p:stCondLst>
                                            <p:cond delay="1312"/>
                                          </p:stCondLst>
                                        </p:cTn>
                                        <p:tgtEl>
                                          <p:spTgt spid="3">
                                            <p:txEl>
                                              <p:pRg st="2" end="2"/>
                                            </p:txEl>
                                          </p:spTgt>
                                        </p:tgtEl>
                                      </p:cBhvr>
                                      <p:to x="100000" y="80000"/>
                                    </p:animScale>
                                    <p:animScale>
                                      <p:cBhvr>
                                        <p:cTn id="40" dur="166" decel="50000">
                                          <p:stCondLst>
                                            <p:cond delay="1338"/>
                                          </p:stCondLst>
                                        </p:cTn>
                                        <p:tgtEl>
                                          <p:spTgt spid="3">
                                            <p:txEl>
                                              <p:pRg st="2" end="2"/>
                                            </p:txEl>
                                          </p:spTgt>
                                        </p:tgtEl>
                                      </p:cBhvr>
                                      <p:to x="100000" y="100000"/>
                                    </p:animScale>
                                    <p:animScale>
                                      <p:cBhvr>
                                        <p:cTn id="41" dur="26">
                                          <p:stCondLst>
                                            <p:cond delay="1642"/>
                                          </p:stCondLst>
                                        </p:cTn>
                                        <p:tgtEl>
                                          <p:spTgt spid="3">
                                            <p:txEl>
                                              <p:pRg st="2" end="2"/>
                                            </p:txEl>
                                          </p:spTgt>
                                        </p:tgtEl>
                                      </p:cBhvr>
                                      <p:to x="100000" y="90000"/>
                                    </p:animScale>
                                    <p:animScale>
                                      <p:cBhvr>
                                        <p:cTn id="42" dur="166" decel="50000">
                                          <p:stCondLst>
                                            <p:cond delay="1668"/>
                                          </p:stCondLst>
                                        </p:cTn>
                                        <p:tgtEl>
                                          <p:spTgt spid="3">
                                            <p:txEl>
                                              <p:pRg st="2" end="2"/>
                                            </p:txEl>
                                          </p:spTgt>
                                        </p:tgtEl>
                                      </p:cBhvr>
                                      <p:to x="100000" y="100000"/>
                                    </p:animScale>
                                    <p:animScale>
                                      <p:cBhvr>
                                        <p:cTn id="43" dur="26">
                                          <p:stCondLst>
                                            <p:cond delay="1808"/>
                                          </p:stCondLst>
                                        </p:cTn>
                                        <p:tgtEl>
                                          <p:spTgt spid="3">
                                            <p:txEl>
                                              <p:pRg st="2" end="2"/>
                                            </p:txEl>
                                          </p:spTgt>
                                        </p:tgtEl>
                                      </p:cBhvr>
                                      <p:to x="100000" y="95000"/>
                                    </p:animScale>
                                    <p:animScale>
                                      <p:cBhvr>
                                        <p:cTn id="44" dur="166" decel="50000">
                                          <p:stCondLst>
                                            <p:cond delay="1834"/>
                                          </p:stCondLst>
                                        </p:cTn>
                                        <p:tgtEl>
                                          <p:spTgt spid="3">
                                            <p:txEl>
                                              <p:pRg st="2" end="2"/>
                                            </p:txEl>
                                          </p:spTgt>
                                        </p:tgtEl>
                                      </p:cBhvr>
                                      <p:to x="100000" y="100000"/>
                                    </p:animScale>
                                  </p:childTnLst>
                                </p:cTn>
                              </p:par>
                            </p:childTnLst>
                          </p:cTn>
                        </p:par>
                        <p:par>
                          <p:cTn id="45" fill="hold">
                            <p:stCondLst>
                              <p:cond delay="5000"/>
                            </p:stCondLst>
                            <p:childTnLst>
                              <p:par>
                                <p:cTn id="46" presetID="26" presetClass="entr" presetSubtype="0" fill="hold" grpId="0" nodeType="afterEffect">
                                  <p:stCondLst>
                                    <p:cond delay="0"/>
                                  </p:stCondLst>
                                  <p:childTnLst>
                                    <p:set>
                                      <p:cBhvr>
                                        <p:cTn id="47" dur="1" fill="hold">
                                          <p:stCondLst>
                                            <p:cond delay="0"/>
                                          </p:stCondLst>
                                        </p:cTn>
                                        <p:tgtEl>
                                          <p:spTgt spid="3">
                                            <p:txEl>
                                              <p:pRg st="4" end="4"/>
                                            </p:txEl>
                                          </p:spTgt>
                                        </p:tgtEl>
                                        <p:attrNameLst>
                                          <p:attrName>style.visibility</p:attrName>
                                        </p:attrNameLst>
                                      </p:cBhvr>
                                      <p:to>
                                        <p:strVal val="visible"/>
                                      </p:to>
                                    </p:set>
                                    <p:animEffect transition="in" filter="wipe(down)">
                                      <p:cBhvr>
                                        <p:cTn id="48" dur="580">
                                          <p:stCondLst>
                                            <p:cond delay="0"/>
                                          </p:stCondLst>
                                        </p:cTn>
                                        <p:tgtEl>
                                          <p:spTgt spid="3">
                                            <p:txEl>
                                              <p:pRg st="4" end="4"/>
                                            </p:txEl>
                                          </p:spTgt>
                                        </p:tgtEl>
                                      </p:cBhvr>
                                    </p:animEffect>
                                    <p:anim calcmode="lin" valueType="num">
                                      <p:cBhvr>
                                        <p:cTn id="49"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50"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51"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52"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53"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54" dur="26">
                                          <p:stCondLst>
                                            <p:cond delay="650"/>
                                          </p:stCondLst>
                                        </p:cTn>
                                        <p:tgtEl>
                                          <p:spTgt spid="3">
                                            <p:txEl>
                                              <p:pRg st="4" end="4"/>
                                            </p:txEl>
                                          </p:spTgt>
                                        </p:tgtEl>
                                      </p:cBhvr>
                                      <p:to x="100000" y="60000"/>
                                    </p:animScale>
                                    <p:animScale>
                                      <p:cBhvr>
                                        <p:cTn id="55" dur="166" decel="50000">
                                          <p:stCondLst>
                                            <p:cond delay="676"/>
                                          </p:stCondLst>
                                        </p:cTn>
                                        <p:tgtEl>
                                          <p:spTgt spid="3">
                                            <p:txEl>
                                              <p:pRg st="4" end="4"/>
                                            </p:txEl>
                                          </p:spTgt>
                                        </p:tgtEl>
                                      </p:cBhvr>
                                      <p:to x="100000" y="100000"/>
                                    </p:animScale>
                                    <p:animScale>
                                      <p:cBhvr>
                                        <p:cTn id="56" dur="26">
                                          <p:stCondLst>
                                            <p:cond delay="1312"/>
                                          </p:stCondLst>
                                        </p:cTn>
                                        <p:tgtEl>
                                          <p:spTgt spid="3">
                                            <p:txEl>
                                              <p:pRg st="4" end="4"/>
                                            </p:txEl>
                                          </p:spTgt>
                                        </p:tgtEl>
                                      </p:cBhvr>
                                      <p:to x="100000" y="80000"/>
                                    </p:animScale>
                                    <p:animScale>
                                      <p:cBhvr>
                                        <p:cTn id="57" dur="166" decel="50000">
                                          <p:stCondLst>
                                            <p:cond delay="1338"/>
                                          </p:stCondLst>
                                        </p:cTn>
                                        <p:tgtEl>
                                          <p:spTgt spid="3">
                                            <p:txEl>
                                              <p:pRg st="4" end="4"/>
                                            </p:txEl>
                                          </p:spTgt>
                                        </p:tgtEl>
                                      </p:cBhvr>
                                      <p:to x="100000" y="100000"/>
                                    </p:animScale>
                                    <p:animScale>
                                      <p:cBhvr>
                                        <p:cTn id="58" dur="26">
                                          <p:stCondLst>
                                            <p:cond delay="1642"/>
                                          </p:stCondLst>
                                        </p:cTn>
                                        <p:tgtEl>
                                          <p:spTgt spid="3">
                                            <p:txEl>
                                              <p:pRg st="4" end="4"/>
                                            </p:txEl>
                                          </p:spTgt>
                                        </p:tgtEl>
                                      </p:cBhvr>
                                      <p:to x="100000" y="90000"/>
                                    </p:animScale>
                                    <p:animScale>
                                      <p:cBhvr>
                                        <p:cTn id="59" dur="166" decel="50000">
                                          <p:stCondLst>
                                            <p:cond delay="1668"/>
                                          </p:stCondLst>
                                        </p:cTn>
                                        <p:tgtEl>
                                          <p:spTgt spid="3">
                                            <p:txEl>
                                              <p:pRg st="4" end="4"/>
                                            </p:txEl>
                                          </p:spTgt>
                                        </p:tgtEl>
                                      </p:cBhvr>
                                      <p:to x="100000" y="100000"/>
                                    </p:animScale>
                                    <p:animScale>
                                      <p:cBhvr>
                                        <p:cTn id="60" dur="26">
                                          <p:stCondLst>
                                            <p:cond delay="1808"/>
                                          </p:stCondLst>
                                        </p:cTn>
                                        <p:tgtEl>
                                          <p:spTgt spid="3">
                                            <p:txEl>
                                              <p:pRg st="4" end="4"/>
                                            </p:txEl>
                                          </p:spTgt>
                                        </p:tgtEl>
                                      </p:cBhvr>
                                      <p:to x="100000" y="95000"/>
                                    </p:animScale>
                                    <p:animScale>
                                      <p:cBhvr>
                                        <p:cTn id="61" dur="166" decel="50000">
                                          <p:stCondLst>
                                            <p:cond delay="1834"/>
                                          </p:stCondLst>
                                        </p:cTn>
                                        <p:tgtEl>
                                          <p:spTgt spid="3">
                                            <p:txEl>
                                              <p:pRg st="4" end="4"/>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p:cNvSpPr>
            <a:spLocks noGrp="1"/>
          </p:cNvSpPr>
          <p:nvPr>
            <p:ph type="subTitle" idx="1"/>
          </p:nvPr>
        </p:nvSpPr>
        <p:spPr>
          <a:xfrm>
            <a:off x="683568" y="764704"/>
            <a:ext cx="7992888" cy="1296144"/>
          </a:xfrm>
        </p:spPr>
        <p:txBody>
          <a:bodyPr>
            <a:normAutofit/>
          </a:bodyPr>
          <a:lstStyle/>
          <a:p>
            <a:pPr algn="just"/>
            <a:r>
              <a:rPr lang="es-MX" dirty="0">
                <a:solidFill>
                  <a:schemeClr val="tx1"/>
                </a:solidFill>
              </a:rPr>
              <a:t>En la siguiente tabla se describe el criterio de sumas de variables artificiales a las restricciones y en la función objetivo:</a:t>
            </a:r>
          </a:p>
          <a:p>
            <a:pPr algn="just"/>
            <a:endParaRPr lang="es-ES" dirty="0">
              <a:solidFill>
                <a:schemeClr val="tx1"/>
              </a:solidFill>
            </a:endParaRPr>
          </a:p>
        </p:txBody>
      </p:sp>
      <p:pic>
        <p:nvPicPr>
          <p:cNvPr id="5" name="4 Imagen"/>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9552" y="1772816"/>
            <a:ext cx="8352928" cy="4824536"/>
          </a:xfrm>
          <a:prstGeom prst="rect">
            <a:avLst/>
          </a:prstGeom>
          <a:noFill/>
          <a:ln>
            <a:noFill/>
          </a:ln>
        </p:spPr>
      </p:pic>
    </p:spTree>
    <p:extLst>
      <p:ext uri="{BB962C8B-B14F-4D97-AF65-F5344CB8AC3E}">
        <p14:creationId xmlns:p14="http://schemas.microsoft.com/office/powerpoint/2010/main" val="3304432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par>
                          <p:cTn id="8" fill="hold">
                            <p:stCondLst>
                              <p:cond delay="500"/>
                            </p:stCondLst>
                            <p:childTnLst>
                              <p:par>
                                <p:cTn id="9" presetID="54" presetClass="entr" presetSubtype="0" accel="10000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strVal val="#ppt_w*0.05"/>
                                          </p:val>
                                        </p:tav>
                                        <p:tav tm="100000">
                                          <p:val>
                                            <p:strVal val="#ppt_w"/>
                                          </p:val>
                                        </p:tav>
                                      </p:tavLst>
                                    </p:anim>
                                    <p:anim calcmode="lin" valueType="num">
                                      <p:cBhvr>
                                        <p:cTn id="12" dur="500" fill="hold"/>
                                        <p:tgtEl>
                                          <p:spTgt spid="5"/>
                                        </p:tgtEl>
                                        <p:attrNameLst>
                                          <p:attrName>ppt_h</p:attrName>
                                        </p:attrNameLst>
                                      </p:cBhvr>
                                      <p:tavLst>
                                        <p:tav tm="0">
                                          <p:val>
                                            <p:strVal val="#ppt_h"/>
                                          </p:val>
                                        </p:tav>
                                        <p:tav tm="100000">
                                          <p:val>
                                            <p:strVal val="#ppt_h"/>
                                          </p:val>
                                        </p:tav>
                                      </p:tavLst>
                                    </p:anim>
                                    <p:anim calcmode="lin" valueType="num">
                                      <p:cBhvr>
                                        <p:cTn id="13" dur="500" fill="hold"/>
                                        <p:tgtEl>
                                          <p:spTgt spid="5"/>
                                        </p:tgtEl>
                                        <p:attrNameLst>
                                          <p:attrName>ppt_x</p:attrName>
                                        </p:attrNameLst>
                                      </p:cBhvr>
                                      <p:tavLst>
                                        <p:tav tm="0">
                                          <p:val>
                                            <p:strVal val="#ppt_x-.2"/>
                                          </p:val>
                                        </p:tav>
                                        <p:tav tm="100000">
                                          <p:val>
                                            <p:strVal val="#ppt_x"/>
                                          </p:val>
                                        </p:tav>
                                      </p:tavLst>
                                    </p:anim>
                                    <p:anim calcmode="lin" valueType="num">
                                      <p:cBhvr>
                                        <p:cTn id="14" dur="500" fill="hold"/>
                                        <p:tgtEl>
                                          <p:spTgt spid="5"/>
                                        </p:tgtEl>
                                        <p:attrNameLst>
                                          <p:attrName>ppt_y</p:attrName>
                                        </p:attrNameLst>
                                      </p:cBhvr>
                                      <p:tavLst>
                                        <p:tav tm="0">
                                          <p:val>
                                            <p:strVal val="#ppt_y"/>
                                          </p:val>
                                        </p:tav>
                                        <p:tav tm="100000">
                                          <p:val>
                                            <p:strVal val="#ppt_y"/>
                                          </p:val>
                                        </p:tav>
                                      </p:tavLst>
                                    </p:anim>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p:cNvSpPr>
            <a:spLocks noGrp="1"/>
          </p:cNvSpPr>
          <p:nvPr>
            <p:ph type="subTitle" idx="1"/>
          </p:nvPr>
        </p:nvSpPr>
        <p:spPr>
          <a:xfrm>
            <a:off x="395536" y="260648"/>
            <a:ext cx="8424936" cy="5976664"/>
          </a:xfrm>
        </p:spPr>
        <p:txBody>
          <a:bodyPr>
            <a:normAutofit fontScale="77500" lnSpcReduction="20000"/>
          </a:bodyPr>
          <a:lstStyle/>
          <a:p>
            <a:pPr algn="just"/>
            <a:r>
              <a:rPr lang="es-MX" dirty="0">
                <a:solidFill>
                  <a:schemeClr val="tx1"/>
                </a:solidFill>
              </a:rPr>
              <a:t>Una ecuación i que no tenga holgura (o una variable que no pueda hacer el papel de holgura) se aumenta con una variable artificial, </a:t>
            </a:r>
            <a:r>
              <a:rPr lang="es-MX" dirty="0" err="1">
                <a:solidFill>
                  <a:schemeClr val="tx1"/>
                </a:solidFill>
              </a:rPr>
              <a:t>Ri</a:t>
            </a:r>
            <a:r>
              <a:rPr lang="es-MX" dirty="0">
                <a:solidFill>
                  <a:schemeClr val="tx1"/>
                </a:solidFill>
              </a:rPr>
              <a:t>, para formar una solución de inicio parecida a la solución básica con todas las holguras. </a:t>
            </a:r>
          </a:p>
          <a:p>
            <a:pPr algn="just"/>
            <a:endParaRPr lang="es-MX" dirty="0">
              <a:solidFill>
                <a:schemeClr val="tx1"/>
              </a:solidFill>
            </a:endParaRPr>
          </a:p>
          <a:p>
            <a:pPr algn="just"/>
            <a:r>
              <a:rPr lang="es-MX" dirty="0">
                <a:solidFill>
                  <a:schemeClr val="tx1"/>
                </a:solidFill>
              </a:rPr>
              <a:t>Sin embargo, como las variables artificiales son ajenas al modelo de programación lineal, se usa un mecanismo de retroalimentación en el que el proceso de optimización trata en forma automática de hacer que esas variables tengan nivel cero. </a:t>
            </a:r>
          </a:p>
          <a:p>
            <a:pPr algn="just"/>
            <a:r>
              <a:rPr lang="es-MX" dirty="0">
                <a:solidFill>
                  <a:schemeClr val="tx1"/>
                </a:solidFill>
              </a:rPr>
              <a:t>En otras palabras la solución final será como si las variables artificiales nunca hubieran existido en primer lugar. El resultado deseado se obtiene penalizando las variables artificiales en la función objetivo.</a:t>
            </a:r>
          </a:p>
          <a:p>
            <a:pPr algn="just"/>
            <a:endParaRPr lang="es-ES" dirty="0">
              <a:solidFill>
                <a:schemeClr val="tx1"/>
              </a:solidFill>
            </a:endParaRPr>
          </a:p>
          <a:p>
            <a:pPr algn="just"/>
            <a:r>
              <a:rPr lang="es-MX" dirty="0">
                <a:solidFill>
                  <a:schemeClr val="tx1"/>
                </a:solidFill>
              </a:rPr>
              <a:t>Dado M, un valor positivo suficientemente grande (matemáticamente, M </a:t>
            </a:r>
            <a:r>
              <a:rPr lang="es-MX" dirty="0">
                <a:solidFill>
                  <a:schemeClr val="tx1"/>
                </a:solidFill>
                <a:sym typeface="Wingdings"/>
              </a:rPr>
              <a:t></a:t>
            </a:r>
            <a:r>
              <a:rPr lang="es-MX" dirty="0">
                <a:solidFill>
                  <a:schemeClr val="tx1"/>
                </a:solidFill>
              </a:rPr>
              <a:t> ∞), el coeficiente objetivo de una variable artificial presenta una penalización adecuada así:</a:t>
            </a:r>
            <a:endParaRPr lang="es-ES" dirty="0">
              <a:solidFill>
                <a:schemeClr val="tx1"/>
              </a:solidFill>
            </a:endParaRPr>
          </a:p>
          <a:p>
            <a:pPr algn="just"/>
            <a:r>
              <a:rPr lang="es-MX" dirty="0">
                <a:solidFill>
                  <a:schemeClr val="tx1"/>
                </a:solidFill>
              </a:rPr>
              <a:t>				-M en problemas de maximización.</a:t>
            </a:r>
            <a:endParaRPr lang="es-ES" dirty="0">
              <a:solidFill>
                <a:schemeClr val="tx1"/>
              </a:solidFill>
            </a:endParaRPr>
          </a:p>
          <a:p>
            <a:pPr algn="just"/>
            <a:r>
              <a:rPr lang="es-MX" dirty="0">
                <a:solidFill>
                  <a:schemeClr val="tx1"/>
                </a:solidFill>
              </a:rPr>
              <a:t>Coeficiente objetivo de la =  </a:t>
            </a:r>
            <a:endParaRPr lang="es-ES" dirty="0">
              <a:solidFill>
                <a:schemeClr val="tx1"/>
              </a:solidFill>
            </a:endParaRPr>
          </a:p>
          <a:p>
            <a:pPr algn="just"/>
            <a:r>
              <a:rPr lang="es-MX" dirty="0">
                <a:solidFill>
                  <a:schemeClr val="tx1"/>
                </a:solidFill>
              </a:rPr>
              <a:t> variable artificial 			+M en problemas de minimización.</a:t>
            </a:r>
            <a:endParaRPr lang="es-ES" dirty="0">
              <a:solidFill>
                <a:schemeClr val="tx1"/>
              </a:solidFill>
            </a:endParaRPr>
          </a:p>
          <a:p>
            <a:pPr algn="just"/>
            <a:r>
              <a:rPr lang="es-MX" dirty="0">
                <a:solidFill>
                  <a:schemeClr val="tx1"/>
                </a:solidFill>
              </a:rPr>
              <a:t> </a:t>
            </a:r>
            <a:endParaRPr lang="es-ES" dirty="0">
              <a:solidFill>
                <a:schemeClr val="tx1"/>
              </a:solidFill>
            </a:endParaRPr>
          </a:p>
          <a:p>
            <a:pPr algn="just"/>
            <a:r>
              <a:rPr lang="es-MX" dirty="0">
                <a:solidFill>
                  <a:schemeClr val="tx1"/>
                </a:solidFill>
              </a:rPr>
              <a:t>Al usar esta penalización, el proceso de </a:t>
            </a:r>
            <a:r>
              <a:rPr lang="es-MX">
                <a:solidFill>
                  <a:schemeClr val="tx1"/>
                </a:solidFill>
              </a:rPr>
              <a:t>optimización forzar </a:t>
            </a:r>
            <a:r>
              <a:rPr lang="es-MX" dirty="0">
                <a:solidFill>
                  <a:schemeClr val="tx1"/>
                </a:solidFill>
              </a:rPr>
              <a:t>en forma automática a las variables artificiales para que sean cero (siempre que el problema tenga una solución factible).</a:t>
            </a:r>
            <a:endParaRPr lang="es-ES" dirty="0">
              <a:solidFill>
                <a:schemeClr val="tx1"/>
              </a:solidFill>
            </a:endParaRPr>
          </a:p>
        </p:txBody>
      </p:sp>
    </p:spTree>
    <p:extLst>
      <p:ext uri="{BB962C8B-B14F-4D97-AF65-F5344CB8AC3E}">
        <p14:creationId xmlns:p14="http://schemas.microsoft.com/office/powerpoint/2010/main" val="3304432093"/>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 calcmode="lin" valueType="num">
                                      <p:cBhvr additive="base">
                                        <p:cTn id="1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 calcmode="lin" valueType="num">
                                      <p:cBhvr additive="base">
                                        <p:cTn id="2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2" presetClass="entr" presetSubtype="4" fill="hold" grpId="0" nodeType="after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 calcmode="lin" valueType="num">
                                      <p:cBhvr additive="base">
                                        <p:cTn id="32"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par>
                          <p:cTn id="34" fill="hold">
                            <p:stCondLst>
                              <p:cond delay="3000"/>
                            </p:stCondLst>
                            <p:childTnLst>
                              <p:par>
                                <p:cTn id="35" presetID="2" presetClass="entr" presetSubtype="4" fill="hold" grpId="0" nodeType="after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 calcmode="lin" valueType="num">
                                      <p:cBhvr additive="base">
                                        <p:cTn id="3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par>
                          <p:cTn id="39" fill="hold">
                            <p:stCondLst>
                              <p:cond delay="3500"/>
                            </p:stCondLst>
                            <p:childTnLst>
                              <p:par>
                                <p:cTn id="40" presetID="2" presetClass="entr" presetSubtype="4" fill="hold" grpId="0" nodeType="after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 calcmode="lin" valueType="num">
                                      <p:cBhvr additive="base">
                                        <p:cTn id="42"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par>
                          <p:cTn id="44" fill="hold">
                            <p:stCondLst>
                              <p:cond delay="4000"/>
                            </p:stCondLst>
                            <p:childTnLst>
                              <p:par>
                                <p:cTn id="45" presetID="2" presetClass="entr" presetSubtype="4" fill="hold" grpId="0" nodeType="after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 calcmode="lin" valueType="num">
                                      <p:cBhvr additive="base">
                                        <p:cTn id="4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p:cNvSpPr>
            <a:spLocks noGrp="1"/>
          </p:cNvSpPr>
          <p:nvPr>
            <p:ph type="subTitle" idx="1"/>
          </p:nvPr>
        </p:nvSpPr>
        <p:spPr>
          <a:xfrm>
            <a:off x="467544" y="476672"/>
            <a:ext cx="8136904" cy="5832648"/>
          </a:xfrm>
        </p:spPr>
        <p:txBody>
          <a:bodyPr>
            <a:normAutofit fontScale="47500" lnSpcReduction="20000"/>
          </a:bodyPr>
          <a:lstStyle/>
          <a:p>
            <a:pPr algn="just"/>
            <a:r>
              <a:rPr lang="es-MX" sz="3800" b="1" dirty="0">
                <a:solidFill>
                  <a:schemeClr val="tx1"/>
                </a:solidFill>
              </a:rPr>
              <a:t>1.2 Algoritmo de la técnica M:</a:t>
            </a:r>
          </a:p>
          <a:p>
            <a:pPr marL="514350" indent="-514350" algn="just">
              <a:buAutoNum type="arabicPeriod"/>
            </a:pPr>
            <a:endParaRPr lang="es-ES" dirty="0">
              <a:solidFill>
                <a:schemeClr val="tx1"/>
              </a:solidFill>
            </a:endParaRPr>
          </a:p>
          <a:p>
            <a:pPr marL="457200" lvl="0" indent="-457200" algn="just">
              <a:buFont typeface="+mj-lt"/>
              <a:buAutoNum type="arabicPeriod"/>
            </a:pPr>
            <a:r>
              <a:rPr lang="es-MX" sz="2900" dirty="0">
                <a:solidFill>
                  <a:schemeClr val="tx1"/>
                </a:solidFill>
              </a:rPr>
              <a:t>Pasar a la forma estándar el modelo matemático.</a:t>
            </a:r>
          </a:p>
          <a:p>
            <a:pPr marL="457200" lvl="0" indent="-457200" algn="just">
              <a:buFont typeface="+mj-lt"/>
              <a:buAutoNum type="arabicPeriod"/>
            </a:pPr>
            <a:endParaRPr lang="es-ES" sz="2900" dirty="0">
              <a:solidFill>
                <a:schemeClr val="tx1"/>
              </a:solidFill>
            </a:endParaRPr>
          </a:p>
          <a:p>
            <a:pPr marL="457200" lvl="0" indent="-457200" algn="just">
              <a:buFont typeface="+mj-lt"/>
              <a:buAutoNum type="arabicPeriod"/>
            </a:pPr>
            <a:r>
              <a:rPr lang="es-MX" sz="2900" dirty="0">
                <a:solidFill>
                  <a:schemeClr val="tx1"/>
                </a:solidFill>
              </a:rPr>
              <a:t>Agregar variables artificiales en las ecuaciones que no tienen variables de holgura.</a:t>
            </a:r>
          </a:p>
          <a:p>
            <a:pPr marL="457200" lvl="0" indent="-457200" algn="just">
              <a:buFont typeface="+mj-lt"/>
              <a:buAutoNum type="arabicPeriod"/>
            </a:pPr>
            <a:endParaRPr lang="es-ES" sz="2900" dirty="0">
              <a:solidFill>
                <a:schemeClr val="tx1"/>
              </a:solidFill>
            </a:endParaRPr>
          </a:p>
          <a:p>
            <a:pPr marL="457200" lvl="0" indent="-457200" algn="just">
              <a:buFont typeface="+mj-lt"/>
              <a:buAutoNum type="arabicPeriod"/>
            </a:pPr>
            <a:r>
              <a:rPr lang="es-MX" sz="2900" dirty="0">
                <a:solidFill>
                  <a:schemeClr val="tx1"/>
                </a:solidFill>
              </a:rPr>
              <a:t>Se debe penalizar a las variables de holgura en la función objetivo asignándoles coeficientes positivos muy grandes. Sea M un 	número muy grande. (En los modelos de minimizar las variables artificiales se sumas y en los de maximización se restan). </a:t>
            </a:r>
          </a:p>
          <a:p>
            <a:pPr marL="457200" lvl="0" indent="-457200" algn="just">
              <a:buFont typeface="+mj-lt"/>
              <a:buAutoNum type="arabicPeriod"/>
            </a:pPr>
            <a:endParaRPr lang="es-ES" sz="2900" dirty="0">
              <a:solidFill>
                <a:schemeClr val="tx1"/>
              </a:solidFill>
            </a:endParaRPr>
          </a:p>
          <a:p>
            <a:pPr marL="457200" lvl="0" indent="-457200" algn="just">
              <a:buFont typeface="+mj-lt"/>
              <a:buAutoNum type="arabicPeriod"/>
            </a:pPr>
            <a:r>
              <a:rPr lang="es-MX" sz="2900" dirty="0">
                <a:solidFill>
                  <a:schemeClr val="tx1"/>
                </a:solidFill>
              </a:rPr>
              <a:t>En la función objetivo no deben aparecer variables básicas por lo que se hace necesario eliminar la variables artificiales de la función objetivo:</a:t>
            </a:r>
          </a:p>
          <a:p>
            <a:pPr marL="457200" lvl="0" indent="-457200" algn="just">
              <a:buFont typeface="+mj-lt"/>
              <a:buAutoNum type="arabicPeriod"/>
            </a:pPr>
            <a:endParaRPr lang="es-ES" sz="2900" dirty="0">
              <a:solidFill>
                <a:schemeClr val="tx1"/>
              </a:solidFill>
            </a:endParaRPr>
          </a:p>
          <a:p>
            <a:pPr marL="914400" lvl="1" indent="-457200" algn="just">
              <a:buFont typeface="+mj-lt"/>
              <a:buAutoNum type="arabicPeriod"/>
            </a:pPr>
            <a:r>
              <a:rPr lang="es-MX" sz="2900" dirty="0">
                <a:solidFill>
                  <a:schemeClr val="tx1"/>
                </a:solidFill>
              </a:rPr>
              <a:t>Despejar de las restricciones las variables artificiales.</a:t>
            </a:r>
            <a:endParaRPr lang="es-ES" sz="2900" dirty="0">
              <a:solidFill>
                <a:schemeClr val="tx1"/>
              </a:solidFill>
            </a:endParaRPr>
          </a:p>
          <a:p>
            <a:pPr marL="914400" lvl="1" indent="-457200" algn="just">
              <a:buFont typeface="+mj-lt"/>
              <a:buAutoNum type="arabicPeriod"/>
            </a:pPr>
            <a:r>
              <a:rPr lang="es-MX" sz="2900" dirty="0">
                <a:solidFill>
                  <a:schemeClr val="tx1"/>
                </a:solidFill>
              </a:rPr>
              <a:t>Sustituir en la función objetivo estos valores.</a:t>
            </a:r>
            <a:endParaRPr lang="es-ES" sz="2900" dirty="0">
              <a:solidFill>
                <a:schemeClr val="tx1"/>
              </a:solidFill>
            </a:endParaRPr>
          </a:p>
          <a:p>
            <a:pPr marL="914400" lvl="1" indent="-457200" algn="just">
              <a:buFont typeface="+mj-lt"/>
              <a:buAutoNum type="arabicPeriod"/>
            </a:pPr>
            <a:r>
              <a:rPr lang="es-MX" sz="2900" dirty="0">
                <a:solidFill>
                  <a:schemeClr val="tx1"/>
                </a:solidFill>
              </a:rPr>
              <a:t>Expresar la función objetivo en forma de ecuación(variables del lado izquierdo).</a:t>
            </a:r>
          </a:p>
          <a:p>
            <a:pPr marL="914400" lvl="1" indent="-457200" algn="just">
              <a:buFont typeface="+mj-lt"/>
              <a:buAutoNum type="arabicPeriod"/>
            </a:pPr>
            <a:endParaRPr lang="es-ES" sz="2900" dirty="0">
              <a:solidFill>
                <a:schemeClr val="tx1"/>
              </a:solidFill>
            </a:endParaRPr>
          </a:p>
          <a:p>
            <a:pPr marL="457200" indent="-457200" algn="just">
              <a:buFont typeface="+mj-lt"/>
              <a:buAutoNum type="arabicPeriod"/>
            </a:pPr>
            <a:r>
              <a:rPr lang="es-MX" sz="2900" dirty="0">
                <a:solidFill>
                  <a:schemeClr val="tx1"/>
                </a:solidFill>
              </a:rPr>
              <a:t>Con la solución inicial artificial se aplica el método simplex de la forma normal.</a:t>
            </a:r>
          </a:p>
          <a:p>
            <a:pPr marL="514350" indent="-514350" algn="just">
              <a:buAutoNum type="arabicPeriod"/>
            </a:pPr>
            <a:endParaRPr lang="es-ES" sz="2900" dirty="0">
              <a:solidFill>
                <a:schemeClr val="tx1"/>
              </a:solidFill>
            </a:endParaRPr>
          </a:p>
          <a:p>
            <a:pPr algn="just"/>
            <a:r>
              <a:rPr lang="es-MX" sz="2900" dirty="0">
                <a:solidFill>
                  <a:schemeClr val="tx1"/>
                </a:solidFill>
              </a:rPr>
              <a:t>Cuando una solución no contiene variables artificiales en un nivel positivo, la solución es factible con respecto al problema original. </a:t>
            </a:r>
          </a:p>
          <a:p>
            <a:pPr algn="just"/>
            <a:endParaRPr lang="es-MX" sz="2900" dirty="0">
              <a:solidFill>
                <a:schemeClr val="tx1"/>
              </a:solidFill>
            </a:endParaRPr>
          </a:p>
          <a:p>
            <a:pPr algn="just"/>
            <a:r>
              <a:rPr lang="es-MX" sz="2900" dirty="0">
                <a:solidFill>
                  <a:schemeClr val="tx1"/>
                </a:solidFill>
              </a:rPr>
              <a:t>El problema no tiene solución factible, cuando al menos una variable artificial será positiva en la solución óptima.</a:t>
            </a:r>
            <a:endParaRPr lang="es-ES" sz="2900" dirty="0">
              <a:solidFill>
                <a:schemeClr val="tx1"/>
              </a:solidFill>
            </a:endParaRPr>
          </a:p>
          <a:p>
            <a:pPr algn="just"/>
            <a:endParaRPr lang="es-ES" dirty="0">
              <a:solidFill>
                <a:schemeClr val="tx1"/>
              </a:solidFill>
            </a:endParaRPr>
          </a:p>
        </p:txBody>
      </p:sp>
    </p:spTree>
    <p:extLst>
      <p:ext uri="{BB962C8B-B14F-4D97-AF65-F5344CB8AC3E}">
        <p14:creationId xmlns:p14="http://schemas.microsoft.com/office/powerpoint/2010/main" val="1003795788"/>
      </p:ext>
    </p:extLst>
  </p:cSld>
  <p:clrMapOvr>
    <a:masterClrMapping/>
  </p:clrMapOvr>
  <p:transition>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1"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 presetClass="entr" presetSubtype="4" fill="hold" grpId="1" nodeType="after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 calcmode="lin" valueType="num">
                                      <p:cBhvr additive="base">
                                        <p:cTn id="1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3" dur="10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14" fill="hold">
                            <p:stCondLst>
                              <p:cond delay="2000"/>
                            </p:stCondLst>
                            <p:childTnLst>
                              <p:par>
                                <p:cTn id="15" presetID="2" presetClass="entr" presetSubtype="4" fill="hold" grpId="1" nodeType="after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10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19" fill="hold">
                            <p:stCondLst>
                              <p:cond delay="3000"/>
                            </p:stCondLst>
                            <p:childTnLst>
                              <p:par>
                                <p:cTn id="20" presetID="2" presetClass="entr" presetSubtype="4" fill="hold" grpId="1" nodeType="after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 calcmode="lin" valueType="num">
                                      <p:cBhvr additive="base">
                                        <p:cTn id="2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3" dur="10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par>
                          <p:cTn id="24" fill="hold">
                            <p:stCondLst>
                              <p:cond delay="4000"/>
                            </p:stCondLst>
                            <p:childTnLst>
                              <p:par>
                                <p:cTn id="25" presetID="2" presetClass="entr" presetSubtype="4" fill="hold" grpId="1" nodeType="after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 calcmode="lin" valueType="num">
                                      <p:cBhvr additive="base">
                                        <p:cTn id="27"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8" dur="10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par>
                          <p:cTn id="29" fill="hold">
                            <p:stCondLst>
                              <p:cond delay="5000"/>
                            </p:stCondLst>
                            <p:childTnLst>
                              <p:par>
                                <p:cTn id="30" presetID="2" presetClass="entr" presetSubtype="4" fill="hold" grpId="1" nodeType="after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 calcmode="lin" valueType="num">
                                      <p:cBhvr additive="base">
                                        <p:cTn id="32"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3" dur="10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par>
                          <p:cTn id="34" fill="hold">
                            <p:stCondLst>
                              <p:cond delay="6000"/>
                            </p:stCondLst>
                            <p:childTnLst>
                              <p:par>
                                <p:cTn id="35" presetID="2" presetClass="entr" presetSubtype="4" fill="hold" grpId="1" nodeType="after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anim calcmode="lin" valueType="num">
                                      <p:cBhvr additive="base">
                                        <p:cTn id="37"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8" dur="10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par>
                          <p:cTn id="39" fill="hold">
                            <p:stCondLst>
                              <p:cond delay="7000"/>
                            </p:stCondLst>
                            <p:childTnLst>
                              <p:par>
                                <p:cTn id="40" presetID="2" presetClass="entr" presetSubtype="4" fill="hold" grpId="1" nodeType="afterEffect">
                                  <p:stCondLst>
                                    <p:cond delay="0"/>
                                  </p:stCondLst>
                                  <p:childTnLst>
                                    <p:set>
                                      <p:cBhvr>
                                        <p:cTn id="41" dur="1" fill="hold">
                                          <p:stCondLst>
                                            <p:cond delay="0"/>
                                          </p:stCondLst>
                                        </p:cTn>
                                        <p:tgtEl>
                                          <p:spTgt spid="3">
                                            <p:txEl>
                                              <p:pRg st="12" end="12"/>
                                            </p:txEl>
                                          </p:spTgt>
                                        </p:tgtEl>
                                        <p:attrNameLst>
                                          <p:attrName>style.visibility</p:attrName>
                                        </p:attrNameLst>
                                      </p:cBhvr>
                                      <p:to>
                                        <p:strVal val="visible"/>
                                      </p:to>
                                    </p:set>
                                    <p:anim calcmode="lin" valueType="num">
                                      <p:cBhvr additive="base">
                                        <p:cTn id="42"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3" dur="10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par>
                          <p:cTn id="44" fill="hold">
                            <p:stCondLst>
                              <p:cond delay="8000"/>
                            </p:stCondLst>
                            <p:childTnLst>
                              <p:par>
                                <p:cTn id="45" presetID="2" presetClass="entr" presetSubtype="4" fill="hold" grpId="1" nodeType="after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anim calcmode="lin" valueType="num">
                                      <p:cBhvr additive="base">
                                        <p:cTn id="47"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8" dur="10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par>
                          <p:cTn id="49" fill="hold">
                            <p:stCondLst>
                              <p:cond delay="9000"/>
                            </p:stCondLst>
                            <p:childTnLst>
                              <p:par>
                                <p:cTn id="50" presetID="2" presetClass="entr" presetSubtype="4" fill="hold" grpId="1" nodeType="afterEffect">
                                  <p:stCondLst>
                                    <p:cond delay="0"/>
                                  </p:stCondLst>
                                  <p:childTnLst>
                                    <p:set>
                                      <p:cBhvr>
                                        <p:cTn id="51" dur="1" fill="hold">
                                          <p:stCondLst>
                                            <p:cond delay="0"/>
                                          </p:stCondLst>
                                        </p:cTn>
                                        <p:tgtEl>
                                          <p:spTgt spid="3">
                                            <p:txEl>
                                              <p:pRg st="16" end="16"/>
                                            </p:txEl>
                                          </p:spTgt>
                                        </p:tgtEl>
                                        <p:attrNameLst>
                                          <p:attrName>style.visibility</p:attrName>
                                        </p:attrNameLst>
                                      </p:cBhvr>
                                      <p:to>
                                        <p:strVal val="visible"/>
                                      </p:to>
                                    </p:set>
                                    <p:anim calcmode="lin" valueType="num">
                                      <p:cBhvr additive="base">
                                        <p:cTn id="52" dur="10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53" dur="10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par>
                          <p:cTn id="54" fill="hold">
                            <p:stCondLst>
                              <p:cond delay="10000"/>
                            </p:stCondLst>
                            <p:childTnLst>
                              <p:par>
                                <p:cTn id="55" presetID="2" presetClass="entr" presetSubtype="4" fill="hold" grpId="1" nodeType="afterEffect">
                                  <p:stCondLst>
                                    <p:cond delay="0"/>
                                  </p:stCondLst>
                                  <p:childTnLst>
                                    <p:set>
                                      <p:cBhvr>
                                        <p:cTn id="56" dur="1" fill="hold">
                                          <p:stCondLst>
                                            <p:cond delay="0"/>
                                          </p:stCondLst>
                                        </p:cTn>
                                        <p:tgtEl>
                                          <p:spTgt spid="3">
                                            <p:txEl>
                                              <p:pRg st="18" end="18"/>
                                            </p:txEl>
                                          </p:spTgt>
                                        </p:tgtEl>
                                        <p:attrNameLst>
                                          <p:attrName>style.visibility</p:attrName>
                                        </p:attrNameLst>
                                      </p:cBhvr>
                                      <p:to>
                                        <p:strVal val="visible"/>
                                      </p:to>
                                    </p:set>
                                    <p:anim calcmode="lin" valueType="num">
                                      <p:cBhvr additive="base">
                                        <p:cTn id="57" dur="10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58" dur="1000" fill="hold"/>
                                        <p:tgtEl>
                                          <p:spTgt spid="3">
                                            <p:txEl>
                                              <p:pRg st="18" end="1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p:cNvSpPr>
            <a:spLocks noGrp="1"/>
          </p:cNvSpPr>
          <p:nvPr>
            <p:ph type="subTitle" idx="1"/>
          </p:nvPr>
        </p:nvSpPr>
        <p:spPr>
          <a:xfrm>
            <a:off x="611560" y="476672"/>
            <a:ext cx="7848872" cy="5976664"/>
          </a:xfrm>
        </p:spPr>
        <p:txBody>
          <a:bodyPr>
            <a:normAutofit fontScale="92500" lnSpcReduction="10000"/>
          </a:bodyPr>
          <a:lstStyle/>
          <a:p>
            <a:pPr algn="just"/>
            <a:r>
              <a:rPr lang="es-MX" dirty="0">
                <a:solidFill>
                  <a:schemeClr val="tx1"/>
                </a:solidFill>
              </a:rPr>
              <a:t>Acerca del Método de La técnica M se pueden hacer 2 observaciones:</a:t>
            </a:r>
          </a:p>
          <a:p>
            <a:pPr algn="just"/>
            <a:endParaRPr lang="es-ES" dirty="0">
              <a:solidFill>
                <a:schemeClr val="tx1"/>
              </a:solidFill>
            </a:endParaRPr>
          </a:p>
          <a:p>
            <a:pPr lvl="0" algn="just"/>
            <a:r>
              <a:rPr lang="es-MX" dirty="0">
                <a:solidFill>
                  <a:schemeClr val="tx1"/>
                </a:solidFill>
              </a:rPr>
              <a:t>El uso de la penalización M podrá no forzar la variable artificial hasta el nivel cero en la iteración simplex final, Si el problema de programación lineal no tiene una solución factible( es decir, si las restricciones no son consistentes ). En este caso, la iteración simplex final incluirá cuando menos una variable artificial a un nivel positivo.</a:t>
            </a:r>
          </a:p>
          <a:p>
            <a:pPr lvl="0" algn="just"/>
            <a:endParaRPr lang="es-ES" dirty="0">
              <a:solidFill>
                <a:schemeClr val="tx1"/>
              </a:solidFill>
            </a:endParaRPr>
          </a:p>
          <a:p>
            <a:pPr lvl="0" algn="just"/>
            <a:r>
              <a:rPr lang="es-MX" dirty="0">
                <a:solidFill>
                  <a:schemeClr val="tx1"/>
                </a:solidFill>
              </a:rPr>
              <a:t>La aplicación de la técnica M implica, teóricamente que M </a:t>
            </a:r>
            <a:r>
              <a:rPr lang="es-MX" dirty="0">
                <a:solidFill>
                  <a:schemeClr val="tx1"/>
                </a:solidFill>
                <a:sym typeface="Wingdings"/>
              </a:rPr>
              <a:t></a:t>
            </a:r>
            <a:r>
              <a:rPr lang="es-MX" dirty="0">
                <a:solidFill>
                  <a:schemeClr val="tx1"/>
                </a:solidFill>
              </a:rPr>
              <a:t> ∞. Sin embargo, al usar la computadora M debe ser finito, pero suficientemente grande. ¿Qué tan grande es “suficientemente grande”? es una pregunta abierta. En forma especifica, M debe ser lo bastante grande como para funcionar como penalización. </a:t>
            </a:r>
          </a:p>
          <a:p>
            <a:pPr lvl="0" algn="just"/>
            <a:endParaRPr lang="es-MX" dirty="0">
              <a:solidFill>
                <a:schemeClr val="tx1"/>
              </a:solidFill>
            </a:endParaRPr>
          </a:p>
          <a:p>
            <a:pPr lvl="0" algn="just"/>
            <a:r>
              <a:rPr lang="es-MX" dirty="0">
                <a:solidFill>
                  <a:schemeClr val="tx1"/>
                </a:solidFill>
              </a:rPr>
              <a:t>Al mismo tiempo no debe ser tan grande como para perjudicar la exactitud de los cálculos simplex, al manipular una mezcla de números muy grandes y muy pequeños.</a:t>
            </a:r>
            <a:endParaRPr lang="es-ES" dirty="0">
              <a:solidFill>
                <a:schemeClr val="tx1"/>
              </a:solidFill>
            </a:endParaRPr>
          </a:p>
          <a:p>
            <a:pPr algn="just"/>
            <a:endParaRPr lang="es-ES" dirty="0">
              <a:solidFill>
                <a:schemeClr val="tx1"/>
              </a:solidFill>
            </a:endParaRPr>
          </a:p>
        </p:txBody>
      </p:sp>
    </p:spTree>
    <p:extLst>
      <p:ext uri="{BB962C8B-B14F-4D97-AF65-F5344CB8AC3E}">
        <p14:creationId xmlns:p14="http://schemas.microsoft.com/office/powerpoint/2010/main" val="3123652939"/>
      </p:ext>
    </p:extLst>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8" presetClass="entr" presetSubtype="0" accel="5000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8" dur="1000" fill="hold"/>
                                        <p:tgtEl>
                                          <p:spTgt spid="3">
                                            <p:txEl>
                                              <p:pRg st="0" end="0"/>
                                            </p:txEl>
                                          </p:spTgt>
                                        </p:tgtEl>
                                        <p:attrNameLst>
                                          <p:attrName>ppt_x</p:attrName>
                                        </p:attrNameLst>
                                      </p:cBhvr>
                                      <p:tavLst>
                                        <p:tav tm="0">
                                          <p:val>
                                            <p:fltVal val="-1"/>
                                          </p:val>
                                        </p:tav>
                                        <p:tav tm="50000">
                                          <p:val>
                                            <p:fltVal val="0.95"/>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
                                          </p:val>
                                        </p:tav>
                                        <p:tav tm="100000">
                                          <p:val>
                                            <p:strVal val="#ppt_y"/>
                                          </p:val>
                                        </p:tav>
                                      </p:tavLst>
                                    </p:anim>
                                    <p:animEffect transition="in" filter="fade">
                                      <p:cBhvr>
                                        <p:cTn id="10" dur="1000"/>
                                        <p:tgtEl>
                                          <p:spTgt spid="3">
                                            <p:txEl>
                                              <p:pRg st="0" end="0"/>
                                            </p:txEl>
                                          </p:spTgt>
                                        </p:tgtEl>
                                      </p:cBhvr>
                                    </p:animEffect>
                                  </p:childTnLst>
                                </p:cTn>
                              </p:par>
                              <p:par>
                                <p:cTn id="11" presetID="48" presetClass="entr" presetSubtype="0" accel="5000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p:cTn id="13" dur="1000" fill="hold"/>
                                        <p:tgtEl>
                                          <p:spTgt spid="3">
                                            <p:txEl>
                                              <p:pRg st="2" end="2"/>
                                            </p:txEl>
                                          </p:spTgt>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14" dur="1000" fill="hold"/>
                                        <p:tgtEl>
                                          <p:spTgt spid="3">
                                            <p:txEl>
                                              <p:pRg st="2" end="2"/>
                                            </p:txEl>
                                          </p:spTgt>
                                        </p:tgtEl>
                                        <p:attrNameLst>
                                          <p:attrName>ppt_x</p:attrName>
                                        </p:attrNameLst>
                                      </p:cBhvr>
                                      <p:tavLst>
                                        <p:tav tm="0">
                                          <p:val>
                                            <p:fltVal val="-1"/>
                                          </p:val>
                                        </p:tav>
                                        <p:tav tm="50000">
                                          <p:val>
                                            <p:fltVal val="0.95"/>
                                          </p:val>
                                        </p:tav>
                                        <p:tav tm="100000">
                                          <p:val>
                                            <p:strVal val="#ppt_x"/>
                                          </p:val>
                                        </p:tav>
                                      </p:tavLst>
                                    </p:anim>
                                    <p:anim calcmode="lin" valueType="num">
                                      <p:cBhvr>
                                        <p:cTn id="15" dur="1000" fill="hold"/>
                                        <p:tgtEl>
                                          <p:spTgt spid="3">
                                            <p:txEl>
                                              <p:pRg st="2" end="2"/>
                                            </p:txEl>
                                          </p:spTgt>
                                        </p:tgtEl>
                                        <p:attrNameLst>
                                          <p:attrName>ppt_y</p:attrName>
                                        </p:attrNameLst>
                                      </p:cBhvr>
                                      <p:tavLst>
                                        <p:tav tm="0">
                                          <p:val>
                                            <p:strVal val="#ppt_y"/>
                                          </p:val>
                                        </p:tav>
                                        <p:tav tm="100000">
                                          <p:val>
                                            <p:strVal val="#ppt_y"/>
                                          </p:val>
                                        </p:tav>
                                      </p:tavLst>
                                    </p:anim>
                                    <p:animEffect transition="in" filter="fade">
                                      <p:cBhvr>
                                        <p:cTn id="16" dur="1000"/>
                                        <p:tgtEl>
                                          <p:spTgt spid="3">
                                            <p:txEl>
                                              <p:pRg st="2" end="2"/>
                                            </p:txEl>
                                          </p:spTgt>
                                        </p:tgtEl>
                                      </p:cBhvr>
                                    </p:animEffect>
                                  </p:childTnLst>
                                </p:cTn>
                              </p:par>
                              <p:par>
                                <p:cTn id="17" presetID="48" presetClass="entr" presetSubtype="0" accel="5000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p:cTn id="19" dur="1000" fill="hold"/>
                                        <p:tgtEl>
                                          <p:spTgt spid="3">
                                            <p:txEl>
                                              <p:pRg st="4" end="4"/>
                                            </p:txEl>
                                          </p:spTgt>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20" dur="1000" fill="hold"/>
                                        <p:tgtEl>
                                          <p:spTgt spid="3">
                                            <p:txEl>
                                              <p:pRg st="4" end="4"/>
                                            </p:txEl>
                                          </p:spTgt>
                                        </p:tgtEl>
                                        <p:attrNameLst>
                                          <p:attrName>ppt_x</p:attrName>
                                        </p:attrNameLst>
                                      </p:cBhvr>
                                      <p:tavLst>
                                        <p:tav tm="0">
                                          <p:val>
                                            <p:fltVal val="-1"/>
                                          </p:val>
                                        </p:tav>
                                        <p:tav tm="50000">
                                          <p:val>
                                            <p:fltVal val="0.95"/>
                                          </p:val>
                                        </p:tav>
                                        <p:tav tm="100000">
                                          <p:val>
                                            <p:strVal val="#ppt_x"/>
                                          </p:val>
                                        </p:tav>
                                      </p:tavLst>
                                    </p:anim>
                                    <p:anim calcmode="lin" valueType="num">
                                      <p:cBhvr>
                                        <p:cTn id="21" dur="1000" fill="hold"/>
                                        <p:tgtEl>
                                          <p:spTgt spid="3">
                                            <p:txEl>
                                              <p:pRg st="4" end="4"/>
                                            </p:txEl>
                                          </p:spTgt>
                                        </p:tgtEl>
                                        <p:attrNameLst>
                                          <p:attrName>ppt_y</p:attrName>
                                        </p:attrNameLst>
                                      </p:cBhvr>
                                      <p:tavLst>
                                        <p:tav tm="0">
                                          <p:val>
                                            <p:strVal val="#ppt_y"/>
                                          </p:val>
                                        </p:tav>
                                        <p:tav tm="100000">
                                          <p:val>
                                            <p:strVal val="#ppt_y"/>
                                          </p:val>
                                        </p:tav>
                                      </p:tavLst>
                                    </p:anim>
                                    <p:animEffect transition="in" filter="fade">
                                      <p:cBhvr>
                                        <p:cTn id="22" dur="1000"/>
                                        <p:tgtEl>
                                          <p:spTgt spid="3">
                                            <p:txEl>
                                              <p:pRg st="4" end="4"/>
                                            </p:txEl>
                                          </p:spTgt>
                                        </p:tgtEl>
                                      </p:cBhvr>
                                    </p:animEffect>
                                  </p:childTnLst>
                                </p:cTn>
                              </p:par>
                              <p:par>
                                <p:cTn id="23" presetID="48" presetClass="entr" presetSubtype="0" accel="5000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p:cTn id="25" dur="1000" fill="hold"/>
                                        <p:tgtEl>
                                          <p:spTgt spid="3">
                                            <p:txEl>
                                              <p:pRg st="6" end="6"/>
                                            </p:txEl>
                                          </p:spTgt>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26" dur="1000" fill="hold"/>
                                        <p:tgtEl>
                                          <p:spTgt spid="3">
                                            <p:txEl>
                                              <p:pRg st="6" end="6"/>
                                            </p:txEl>
                                          </p:spTgt>
                                        </p:tgtEl>
                                        <p:attrNameLst>
                                          <p:attrName>ppt_x</p:attrName>
                                        </p:attrNameLst>
                                      </p:cBhvr>
                                      <p:tavLst>
                                        <p:tav tm="0">
                                          <p:val>
                                            <p:fltVal val="-1"/>
                                          </p:val>
                                        </p:tav>
                                        <p:tav tm="50000">
                                          <p:val>
                                            <p:fltVal val="0.95"/>
                                          </p:val>
                                        </p:tav>
                                        <p:tav tm="100000">
                                          <p:val>
                                            <p:strVal val="#ppt_x"/>
                                          </p:val>
                                        </p:tav>
                                      </p:tavLst>
                                    </p:anim>
                                    <p:anim calcmode="lin" valueType="num">
                                      <p:cBhvr>
                                        <p:cTn id="27" dur="1000" fill="hold"/>
                                        <p:tgtEl>
                                          <p:spTgt spid="3">
                                            <p:txEl>
                                              <p:pRg st="6" end="6"/>
                                            </p:txEl>
                                          </p:spTgt>
                                        </p:tgtEl>
                                        <p:attrNameLst>
                                          <p:attrName>ppt_y</p:attrName>
                                        </p:attrNameLst>
                                      </p:cBhvr>
                                      <p:tavLst>
                                        <p:tav tm="0">
                                          <p:val>
                                            <p:strVal val="#ppt_y"/>
                                          </p:val>
                                        </p:tav>
                                        <p:tav tm="100000">
                                          <p:val>
                                            <p:strVal val="#ppt_y"/>
                                          </p:val>
                                        </p:tav>
                                      </p:tavLst>
                                    </p:anim>
                                    <p:animEffect transition="in" filter="fade">
                                      <p:cBhvr>
                                        <p:cTn id="28" dur="1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r="4480"/>
          <a:stretch>
            <a:fillRect/>
          </a:stretch>
        </p:blipFill>
        <p:spPr bwMode="auto">
          <a:xfrm>
            <a:off x="1382940" y="1052736"/>
            <a:ext cx="6141388" cy="5674335"/>
          </a:xfrm>
          <a:prstGeom prst="rect">
            <a:avLst/>
          </a:prstGeom>
          <a:noFill/>
          <a:ln w="9525">
            <a:noFill/>
            <a:miter lim="800000"/>
            <a:headEnd/>
            <a:tailEnd/>
          </a:ln>
          <a:effectLst/>
        </p:spPr>
      </p:pic>
      <p:sp>
        <p:nvSpPr>
          <p:cNvPr id="5" name="1 Título"/>
          <p:cNvSpPr txBox="1">
            <a:spLocks/>
          </p:cNvSpPr>
          <p:nvPr/>
        </p:nvSpPr>
        <p:spPr>
          <a:xfrm>
            <a:off x="611560" y="116632"/>
            <a:ext cx="7772400" cy="1008112"/>
          </a:xfrm>
          <a:prstGeom prst="rect">
            <a:avLst/>
          </a:prstGeom>
        </p:spPr>
        <p:txBody>
          <a:bodyPr vert="horz" anchor="ctr">
            <a:normAutofit/>
          </a:bodyPr>
          <a:lstStyle/>
          <a:p>
            <a:pPr marL="0" marR="0" lvl="0" indent="0" algn="r" defTabSz="914400" rtl="0" eaLnBrk="1" fontAlgn="auto" latinLnBrk="0" hangingPunct="1">
              <a:lnSpc>
                <a:spcPct val="100000"/>
              </a:lnSpc>
              <a:spcBef>
                <a:spcPct val="0"/>
              </a:spcBef>
              <a:spcAft>
                <a:spcPts val="0"/>
              </a:spcAft>
              <a:buClrTx/>
              <a:buSzTx/>
              <a:buFontTx/>
              <a:buNone/>
              <a:tabLst/>
              <a:defRPr/>
            </a:pPr>
            <a:r>
              <a:rPr lang="es-ES" sz="3600" cap="all" dirty="0">
                <a:solidFill>
                  <a:schemeClr val="tx2"/>
                </a:solidFill>
                <a:effectLst>
                  <a:reflection blurRad="12700" stA="48000" endA="300" endPos="55000" dir="5400000" sy="-90000" algn="bl" rotWithShape="0"/>
                </a:effectLst>
                <a:latin typeface="+mj-lt"/>
                <a:ea typeface="+mj-ea"/>
                <a:cs typeface="+mj-cs"/>
              </a:rPr>
              <a:t>EJEMPLO </a:t>
            </a:r>
            <a:endParaRPr kumimoji="0" lang="es-E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Tree>
    <p:extLst>
      <p:ext uri="{BB962C8B-B14F-4D97-AF65-F5344CB8AC3E}">
        <p14:creationId xmlns:p14="http://schemas.microsoft.com/office/powerpoint/2010/main" val="634168266"/>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 calcmode="lin" valueType="num">
                                      <p:cBhvr additive="base">
                                        <p:cTn id="10" dur="1000" fill="hold"/>
                                        <p:tgtEl>
                                          <p:spTgt spid="5"/>
                                        </p:tgtEl>
                                        <p:attrNameLst>
                                          <p:attrName>ppt_x</p:attrName>
                                        </p:attrNameLst>
                                      </p:cBhvr>
                                      <p:tavLst>
                                        <p:tav tm="0">
                                          <p:val>
                                            <p:strVal val="#ppt_x"/>
                                          </p:val>
                                        </p:tav>
                                        <p:tav tm="100000">
                                          <p:val>
                                            <p:strVal val="#ppt_x"/>
                                          </p:val>
                                        </p:tav>
                                      </p:tavLst>
                                    </p:anim>
                                    <p:anim calcmode="lin" valueType="num">
                                      <p:cBhvr additive="base">
                                        <p:cTn id="11"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cstate="print"/>
          <a:srcRect/>
          <a:stretch>
            <a:fillRect/>
          </a:stretch>
        </p:blipFill>
        <p:spPr bwMode="auto">
          <a:xfrm>
            <a:off x="323527" y="1556792"/>
            <a:ext cx="8323125" cy="3528392"/>
          </a:xfrm>
          <a:prstGeom prst="rect">
            <a:avLst/>
          </a:prstGeom>
          <a:noFill/>
          <a:ln w="9525">
            <a:noFill/>
            <a:miter lim="800000"/>
            <a:headEnd/>
            <a:tailEnd/>
          </a:ln>
          <a:effectLst/>
        </p:spPr>
      </p:pic>
    </p:spTree>
    <p:extLst>
      <p:ext uri="{BB962C8B-B14F-4D97-AF65-F5344CB8AC3E}">
        <p14:creationId xmlns:p14="http://schemas.microsoft.com/office/powerpoint/2010/main" val="179614753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4" presetClass="entr" presetSubtype="0" accel="10000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0.05"/>
                                          </p:val>
                                        </p:tav>
                                        <p:tav tm="100000">
                                          <p:val>
                                            <p:strVal val="#ppt_w"/>
                                          </p:val>
                                        </p:tav>
                                      </p:tavLst>
                                    </p:anim>
                                    <p:anim calcmode="lin" valueType="num">
                                      <p:cBhvr>
                                        <p:cTn id="8" dur="500" fill="hold"/>
                                        <p:tgtEl>
                                          <p:spTgt spid="3"/>
                                        </p:tgtEl>
                                        <p:attrNameLst>
                                          <p:attrName>ppt_h</p:attrName>
                                        </p:attrNameLst>
                                      </p:cBhvr>
                                      <p:tavLst>
                                        <p:tav tm="0">
                                          <p:val>
                                            <p:strVal val="#ppt_h"/>
                                          </p:val>
                                        </p:tav>
                                        <p:tav tm="100000">
                                          <p:val>
                                            <p:strVal val="#ppt_h"/>
                                          </p:val>
                                        </p:tav>
                                      </p:tavLst>
                                    </p:anim>
                                    <p:anim calcmode="lin" valueType="num">
                                      <p:cBhvr>
                                        <p:cTn id="9" dur="500" fill="hold"/>
                                        <p:tgtEl>
                                          <p:spTgt spid="3"/>
                                        </p:tgtEl>
                                        <p:attrNameLst>
                                          <p:attrName>ppt_x</p:attrName>
                                        </p:attrNameLst>
                                      </p:cBhvr>
                                      <p:tavLst>
                                        <p:tav tm="0">
                                          <p:val>
                                            <p:strVal val="#ppt_x-.2"/>
                                          </p:val>
                                        </p:tav>
                                        <p:tav tm="100000">
                                          <p:val>
                                            <p:strVal val="#ppt_x"/>
                                          </p:val>
                                        </p:tav>
                                      </p:tavLst>
                                    </p:anim>
                                    <p:anim calcmode="lin" valueType="num">
                                      <p:cBhvr>
                                        <p:cTn id="10" dur="500" fill="hold"/>
                                        <p:tgtEl>
                                          <p:spTgt spid="3"/>
                                        </p:tgtEl>
                                        <p:attrNameLst>
                                          <p:attrName>ppt_y</p:attrName>
                                        </p:attrNameLst>
                                      </p:cBhvr>
                                      <p:tavLst>
                                        <p:tav tm="0">
                                          <p:val>
                                            <p:strVal val="#ppt_y"/>
                                          </p:val>
                                        </p:tav>
                                        <p:tav tm="100000">
                                          <p:val>
                                            <p:strVal val="#ppt_y"/>
                                          </p:val>
                                        </p:tav>
                                      </p:tavLst>
                                    </p:anim>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cstate="print"/>
          <a:srcRect/>
          <a:stretch>
            <a:fillRect/>
          </a:stretch>
        </p:blipFill>
        <p:spPr bwMode="auto">
          <a:xfrm>
            <a:off x="395536" y="928910"/>
            <a:ext cx="8429479" cy="5092378"/>
          </a:xfrm>
          <a:prstGeom prst="rect">
            <a:avLst/>
          </a:prstGeom>
          <a:noFill/>
          <a:ln w="9525">
            <a:noFill/>
            <a:miter lim="800000"/>
            <a:headEnd/>
            <a:tailEnd/>
          </a:ln>
          <a:effectLst/>
        </p:spPr>
      </p:pic>
    </p:spTree>
    <p:extLst>
      <p:ext uri="{BB962C8B-B14F-4D97-AF65-F5344CB8AC3E}">
        <p14:creationId xmlns:p14="http://schemas.microsoft.com/office/powerpoint/2010/main" val="406236169"/>
      </p:ext>
    </p:extLst>
  </p:cSld>
  <p:clrMapOvr>
    <a:masterClrMapping/>
  </p:clrMapOvr>
  <p:transition>
    <p:wipe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cstate="print"/>
          <a:srcRect/>
          <a:stretch>
            <a:fillRect/>
          </a:stretch>
        </p:blipFill>
        <p:spPr bwMode="auto">
          <a:xfrm>
            <a:off x="272077" y="548680"/>
            <a:ext cx="8620403" cy="5688632"/>
          </a:xfrm>
          <a:prstGeom prst="rect">
            <a:avLst/>
          </a:prstGeom>
          <a:noFill/>
          <a:ln w="9525">
            <a:noFill/>
            <a:miter lim="800000"/>
            <a:headEnd/>
            <a:tailEnd/>
          </a:ln>
          <a:effectLst/>
        </p:spPr>
      </p:pic>
    </p:spTree>
    <p:extLst>
      <p:ext uri="{BB962C8B-B14F-4D97-AF65-F5344CB8AC3E}">
        <p14:creationId xmlns:p14="http://schemas.microsoft.com/office/powerpoint/2010/main" val="891889433"/>
      </p:ext>
    </p:extLst>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cstate="print"/>
          <a:srcRect/>
          <a:stretch>
            <a:fillRect/>
          </a:stretch>
        </p:blipFill>
        <p:spPr bwMode="auto">
          <a:xfrm>
            <a:off x="154035" y="1124744"/>
            <a:ext cx="8843511" cy="4320480"/>
          </a:xfrm>
          <a:prstGeom prst="rect">
            <a:avLst/>
          </a:prstGeom>
          <a:noFill/>
          <a:ln w="9525">
            <a:noFill/>
            <a:miter lim="800000"/>
            <a:headEnd/>
            <a:tailEnd/>
          </a:ln>
          <a:effectLst/>
        </p:spPr>
      </p:pic>
    </p:spTree>
    <p:extLst>
      <p:ext uri="{BB962C8B-B14F-4D97-AF65-F5344CB8AC3E}">
        <p14:creationId xmlns:p14="http://schemas.microsoft.com/office/powerpoint/2010/main" val="3544876467"/>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lgn="r"/>
            <a:r>
              <a:rPr lang="es-GT" dirty="0"/>
              <a:t>Conclusiones</a:t>
            </a:r>
          </a:p>
        </p:txBody>
      </p:sp>
      <p:sp>
        <p:nvSpPr>
          <p:cNvPr id="3" name="2 Marcador de contenido"/>
          <p:cNvSpPr>
            <a:spLocks noGrp="1"/>
          </p:cNvSpPr>
          <p:nvPr>
            <p:ph idx="1"/>
          </p:nvPr>
        </p:nvSpPr>
        <p:spPr/>
        <p:txBody>
          <a:bodyPr>
            <a:normAutofit fontScale="92500"/>
          </a:bodyPr>
          <a:lstStyle/>
          <a:p>
            <a:r>
              <a:rPr lang="es-GT" dirty="0"/>
              <a:t>La técnica M es una técnica que se emplea en los problemas en que se debe maximizar o minimizar una función y hay restricciones del tipo (=) ó (≥)</a:t>
            </a:r>
          </a:p>
          <a:p>
            <a:r>
              <a:rPr lang="es-GT" dirty="0"/>
              <a:t>Una variable artificial es una variable que desempeña el trabajo de holgura en la primera iteración, para después ser desechada en forma legitima.</a:t>
            </a:r>
          </a:p>
          <a:p>
            <a:r>
              <a:rPr lang="es-GT" dirty="0"/>
              <a:t>El coeficiente objetivo en la variable artificial es -M si es maximización y +M si es minimización, ya que esto forzara en forma automática a las variables artificiales para que sean cero, siempre que el problema tenga una solución factible.</a:t>
            </a:r>
          </a:p>
          <a:p>
            <a:endParaRPr lang="es-GT" dirty="0"/>
          </a:p>
        </p:txBody>
      </p:sp>
    </p:spTree>
    <p:extLst>
      <p:ext uri="{BB962C8B-B14F-4D97-AF65-F5344CB8AC3E}">
        <p14:creationId xmlns:p14="http://schemas.microsoft.com/office/powerpoint/2010/main" val="2037388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4" presetClass="entr" presetSubtype="0" ac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ppt_w*0.05"/>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anim calcmode="lin" valueType="num">
                                      <p:cBhvr>
                                        <p:cTn id="9" dur="500" fill="hold"/>
                                        <p:tgtEl>
                                          <p:spTgt spid="2"/>
                                        </p:tgtEl>
                                        <p:attrNameLst>
                                          <p:attrName>ppt_x</p:attrName>
                                        </p:attrNameLst>
                                      </p:cBhvr>
                                      <p:tavLst>
                                        <p:tav tm="0">
                                          <p:val>
                                            <p:strVal val="#ppt_x-.2"/>
                                          </p:val>
                                        </p:tav>
                                        <p:tav tm="100000">
                                          <p:val>
                                            <p:strVal val="#ppt_x"/>
                                          </p:val>
                                        </p:tav>
                                      </p:tavLst>
                                    </p:anim>
                                    <p:anim calcmode="lin" valueType="num">
                                      <p:cBhvr>
                                        <p:cTn id="10" dur="500" fill="hold"/>
                                        <p:tgtEl>
                                          <p:spTgt spid="2"/>
                                        </p:tgtEl>
                                        <p:attrNameLst>
                                          <p:attrName>ppt_y</p:attrName>
                                        </p:attrNameLst>
                                      </p:cBhvr>
                                      <p:tavLst>
                                        <p:tav tm="0">
                                          <p:val>
                                            <p:strVal val="#ppt_y"/>
                                          </p:val>
                                        </p:tav>
                                        <p:tav tm="100000">
                                          <p:val>
                                            <p:strVal val="#ppt_y"/>
                                          </p:val>
                                        </p:tav>
                                      </p:tavLst>
                                    </p:anim>
                                    <p:animEffect transition="in" filter="fade">
                                      <p:cBhvr>
                                        <p:cTn id="11" dur="500"/>
                                        <p:tgtEl>
                                          <p:spTgt spid="2"/>
                                        </p:tgtEl>
                                      </p:cBhvr>
                                    </p:animEffect>
                                  </p:childTnLst>
                                </p:cTn>
                              </p:par>
                            </p:childTnLst>
                          </p:cTn>
                        </p:par>
                        <p:par>
                          <p:cTn id="12" fill="hold">
                            <p:stCondLst>
                              <p:cond delay="500"/>
                            </p:stCondLst>
                            <p:childTnLst>
                              <p:par>
                                <p:cTn id="13" presetID="58" presetClass="entr" presetSubtype="0" accel="100000" fill="hold" grpId="0" nodeType="after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p:cTn id="15" dur="500" fill="hold"/>
                                        <p:tgtEl>
                                          <p:spTgt spid="3">
                                            <p:txEl>
                                              <p:pRg st="0" end="0"/>
                                            </p:txEl>
                                          </p:spTgt>
                                        </p:tgtEl>
                                        <p:attrNameLst>
                                          <p:attrName>ppt_w</p:attrName>
                                        </p:attrNameLst>
                                      </p:cBhvr>
                                      <p:tavLst>
                                        <p:tav tm="0">
                                          <p:val>
                                            <p:strVal val="#ppt_w*2.5"/>
                                          </p:val>
                                        </p:tav>
                                        <p:tav tm="100000">
                                          <p:val>
                                            <p:strVal val="#ppt_w"/>
                                          </p:val>
                                        </p:tav>
                                      </p:tavLst>
                                    </p:anim>
                                    <p:anim calcmode="lin" valueType="num">
                                      <p:cBhvr>
                                        <p:cTn id="16" dur="500" fill="hold"/>
                                        <p:tgtEl>
                                          <p:spTgt spid="3">
                                            <p:txEl>
                                              <p:pRg st="0" end="0"/>
                                            </p:txEl>
                                          </p:spTgt>
                                        </p:tgtEl>
                                        <p:attrNameLst>
                                          <p:attrName>ppt_h</p:attrName>
                                        </p:attrNameLst>
                                      </p:cBhvr>
                                      <p:tavLst>
                                        <p:tav tm="0">
                                          <p:val>
                                            <p:strVal val="#ppt_h*0.01"/>
                                          </p:val>
                                        </p:tav>
                                        <p:tav tm="100000">
                                          <p:val>
                                            <p:strVal val="#ppt_h"/>
                                          </p:val>
                                        </p:tav>
                                      </p:tavLst>
                                    </p:anim>
                                    <p:anim calcmode="lin" valueType="num">
                                      <p:cBhvr>
                                        <p:cTn id="1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8" dur="500" fill="hold"/>
                                        <p:tgtEl>
                                          <p:spTgt spid="3">
                                            <p:txEl>
                                              <p:pRg st="0" end="0"/>
                                            </p:txEl>
                                          </p:spTgt>
                                        </p:tgtEl>
                                        <p:attrNameLst>
                                          <p:attrName>ppt_y</p:attrName>
                                        </p:attrNameLst>
                                      </p:cBhvr>
                                      <p:tavLst>
                                        <p:tav tm="0">
                                          <p:val>
                                            <p:strVal val="#ppt_h+1"/>
                                          </p:val>
                                        </p:tav>
                                        <p:tav tm="100000">
                                          <p:val>
                                            <p:strVal val="#ppt_y"/>
                                          </p:val>
                                        </p:tav>
                                      </p:tavLst>
                                    </p:anim>
                                    <p:animEffect transition="in" filter="fade">
                                      <p:cBhvr>
                                        <p:cTn id="19" dur="500"/>
                                        <p:tgtEl>
                                          <p:spTgt spid="3">
                                            <p:txEl>
                                              <p:pRg st="0" end="0"/>
                                            </p:txEl>
                                          </p:spTgt>
                                        </p:tgtEl>
                                      </p:cBhvr>
                                    </p:animEffect>
                                  </p:childTnLst>
                                </p:cTn>
                              </p:par>
                            </p:childTnLst>
                          </p:cTn>
                        </p:par>
                        <p:par>
                          <p:cTn id="20" fill="hold">
                            <p:stCondLst>
                              <p:cond delay="1000"/>
                            </p:stCondLst>
                            <p:childTnLst>
                              <p:par>
                                <p:cTn id="21" presetID="58" presetClass="entr" presetSubtype="0" accel="100000" fill="hold" grpId="0" nodeType="after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 calcmode="lin" valueType="num">
                                      <p:cBhvr>
                                        <p:cTn id="23" dur="500" fill="hold"/>
                                        <p:tgtEl>
                                          <p:spTgt spid="3">
                                            <p:txEl>
                                              <p:pRg st="1" end="1"/>
                                            </p:txEl>
                                          </p:spTgt>
                                        </p:tgtEl>
                                        <p:attrNameLst>
                                          <p:attrName>ppt_w</p:attrName>
                                        </p:attrNameLst>
                                      </p:cBhvr>
                                      <p:tavLst>
                                        <p:tav tm="0">
                                          <p:val>
                                            <p:strVal val="#ppt_w*2.5"/>
                                          </p:val>
                                        </p:tav>
                                        <p:tav tm="100000">
                                          <p:val>
                                            <p:strVal val="#ppt_w"/>
                                          </p:val>
                                        </p:tav>
                                      </p:tavLst>
                                    </p:anim>
                                    <p:anim calcmode="lin" valueType="num">
                                      <p:cBhvr>
                                        <p:cTn id="24" dur="500" fill="hold"/>
                                        <p:tgtEl>
                                          <p:spTgt spid="3">
                                            <p:txEl>
                                              <p:pRg st="1" end="1"/>
                                            </p:txEl>
                                          </p:spTgt>
                                        </p:tgtEl>
                                        <p:attrNameLst>
                                          <p:attrName>ppt_h</p:attrName>
                                        </p:attrNameLst>
                                      </p:cBhvr>
                                      <p:tavLst>
                                        <p:tav tm="0">
                                          <p:val>
                                            <p:strVal val="#ppt_h*0.01"/>
                                          </p:val>
                                        </p:tav>
                                        <p:tav tm="100000">
                                          <p:val>
                                            <p:strVal val="#ppt_h"/>
                                          </p:val>
                                        </p:tav>
                                      </p:tavLst>
                                    </p:anim>
                                    <p:anim calcmode="lin" valueType="num">
                                      <p:cBhvr>
                                        <p:cTn id="2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6" dur="500" fill="hold"/>
                                        <p:tgtEl>
                                          <p:spTgt spid="3">
                                            <p:txEl>
                                              <p:pRg st="1" end="1"/>
                                            </p:txEl>
                                          </p:spTgt>
                                        </p:tgtEl>
                                        <p:attrNameLst>
                                          <p:attrName>ppt_y</p:attrName>
                                        </p:attrNameLst>
                                      </p:cBhvr>
                                      <p:tavLst>
                                        <p:tav tm="0">
                                          <p:val>
                                            <p:strVal val="#ppt_h+1"/>
                                          </p:val>
                                        </p:tav>
                                        <p:tav tm="100000">
                                          <p:val>
                                            <p:strVal val="#ppt_y"/>
                                          </p:val>
                                        </p:tav>
                                      </p:tavLst>
                                    </p:anim>
                                    <p:animEffect transition="in" filter="fade">
                                      <p:cBhvr>
                                        <p:cTn id="27" dur="500"/>
                                        <p:tgtEl>
                                          <p:spTgt spid="3">
                                            <p:txEl>
                                              <p:pRg st="1" end="1"/>
                                            </p:txEl>
                                          </p:spTgt>
                                        </p:tgtEl>
                                      </p:cBhvr>
                                    </p:animEffect>
                                  </p:childTnLst>
                                </p:cTn>
                              </p:par>
                            </p:childTnLst>
                          </p:cTn>
                        </p:par>
                        <p:par>
                          <p:cTn id="28" fill="hold">
                            <p:stCondLst>
                              <p:cond delay="1500"/>
                            </p:stCondLst>
                            <p:childTnLst>
                              <p:par>
                                <p:cTn id="29" presetID="58" presetClass="entr" presetSubtype="0" accel="100000" fill="hold" grpId="0" nodeType="after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p:cTn id="31" dur="500" fill="hold"/>
                                        <p:tgtEl>
                                          <p:spTgt spid="3">
                                            <p:txEl>
                                              <p:pRg st="2" end="2"/>
                                            </p:txEl>
                                          </p:spTgt>
                                        </p:tgtEl>
                                        <p:attrNameLst>
                                          <p:attrName>ppt_w</p:attrName>
                                        </p:attrNameLst>
                                      </p:cBhvr>
                                      <p:tavLst>
                                        <p:tav tm="0">
                                          <p:val>
                                            <p:strVal val="#ppt_w*2.5"/>
                                          </p:val>
                                        </p:tav>
                                        <p:tav tm="100000">
                                          <p:val>
                                            <p:strVal val="#ppt_w"/>
                                          </p:val>
                                        </p:tav>
                                      </p:tavLst>
                                    </p:anim>
                                    <p:anim calcmode="lin" valueType="num">
                                      <p:cBhvr>
                                        <p:cTn id="32" dur="500" fill="hold"/>
                                        <p:tgtEl>
                                          <p:spTgt spid="3">
                                            <p:txEl>
                                              <p:pRg st="2" end="2"/>
                                            </p:txEl>
                                          </p:spTgt>
                                        </p:tgtEl>
                                        <p:attrNameLst>
                                          <p:attrName>ppt_h</p:attrName>
                                        </p:attrNameLst>
                                      </p:cBhvr>
                                      <p:tavLst>
                                        <p:tav tm="0">
                                          <p:val>
                                            <p:strVal val="#ppt_h*0.01"/>
                                          </p:val>
                                        </p:tav>
                                        <p:tav tm="100000">
                                          <p:val>
                                            <p:strVal val="#ppt_h"/>
                                          </p:val>
                                        </p:tav>
                                      </p:tavLst>
                                    </p:anim>
                                    <p:anim calcmode="lin" valueType="num">
                                      <p:cBhvr>
                                        <p:cTn id="3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4" dur="500" fill="hold"/>
                                        <p:tgtEl>
                                          <p:spTgt spid="3">
                                            <p:txEl>
                                              <p:pRg st="2" end="2"/>
                                            </p:txEl>
                                          </p:spTgt>
                                        </p:tgtEl>
                                        <p:attrNameLst>
                                          <p:attrName>ppt_y</p:attrName>
                                        </p:attrNameLst>
                                      </p:cBhvr>
                                      <p:tavLst>
                                        <p:tav tm="0">
                                          <p:val>
                                            <p:strVal val="#ppt_h+1"/>
                                          </p:val>
                                        </p:tav>
                                        <p:tav tm="100000">
                                          <p:val>
                                            <p:strVal val="#ppt_y"/>
                                          </p:val>
                                        </p:tav>
                                      </p:tavLst>
                                    </p:anim>
                                    <p:animEffect transition="in" filter="fade">
                                      <p:cBhvr>
                                        <p:cTn id="3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ctrTitle"/>
          </p:nvPr>
        </p:nvSpPr>
        <p:spPr>
          <a:xfrm>
            <a:off x="683568" y="188640"/>
            <a:ext cx="7772400" cy="1470025"/>
          </a:xfrm>
        </p:spPr>
        <p:txBody>
          <a:bodyPr/>
          <a:lstStyle/>
          <a:p>
            <a:pPr algn="r"/>
            <a:r>
              <a:rPr lang="es-ES" dirty="0"/>
              <a:t>BIBLIOGRAFÍA</a:t>
            </a:r>
          </a:p>
        </p:txBody>
      </p:sp>
      <p:sp>
        <p:nvSpPr>
          <p:cNvPr id="2" name="1 Subtítulo"/>
          <p:cNvSpPr>
            <a:spLocks noGrp="1"/>
          </p:cNvSpPr>
          <p:nvPr>
            <p:ph type="subTitle" idx="1"/>
          </p:nvPr>
        </p:nvSpPr>
        <p:spPr>
          <a:xfrm>
            <a:off x="755576" y="1628800"/>
            <a:ext cx="7016824" cy="4010000"/>
          </a:xfrm>
        </p:spPr>
        <p:txBody>
          <a:bodyPr>
            <a:normAutofit/>
          </a:bodyPr>
          <a:lstStyle/>
          <a:p>
            <a:pPr marL="342900" indent="-342900" algn="l">
              <a:buFont typeface="Arial" pitchFamily="34" charset="0"/>
              <a:buChar char="•"/>
            </a:pPr>
            <a:r>
              <a:rPr lang="es-MX" sz="2000" dirty="0">
                <a:solidFill>
                  <a:schemeClr val="tx1"/>
                </a:solidFill>
              </a:rPr>
              <a:t>Investigación de operaciones, </a:t>
            </a:r>
            <a:r>
              <a:rPr lang="es-MX" sz="2000" dirty="0" err="1">
                <a:solidFill>
                  <a:schemeClr val="tx1"/>
                </a:solidFill>
              </a:rPr>
              <a:t>Hamdy</a:t>
            </a:r>
            <a:r>
              <a:rPr lang="es-MX" sz="2000" dirty="0">
                <a:solidFill>
                  <a:schemeClr val="tx1"/>
                </a:solidFill>
              </a:rPr>
              <a:t> A. Taha. Séptima edición.</a:t>
            </a:r>
            <a:endParaRPr lang="es-ES" sz="2000" dirty="0">
              <a:solidFill>
                <a:schemeClr val="tx1"/>
              </a:solidFill>
            </a:endParaRPr>
          </a:p>
          <a:p>
            <a:pPr marL="342900" indent="-342900" algn="l">
              <a:buFont typeface="Arial" pitchFamily="34" charset="0"/>
              <a:buChar char="•"/>
            </a:pPr>
            <a:endParaRPr lang="es-ES" sz="2000" dirty="0">
              <a:solidFill>
                <a:schemeClr val="tx1"/>
              </a:solidFill>
            </a:endParaRPr>
          </a:p>
          <a:p>
            <a:pPr marL="342900" indent="-342900" algn="l">
              <a:buFont typeface="Arial" pitchFamily="34" charset="0"/>
              <a:buChar char="•"/>
            </a:pPr>
            <a:endParaRPr lang="es-ES" sz="2000" dirty="0">
              <a:solidFill>
                <a:schemeClr val="tx1"/>
              </a:solidFill>
            </a:endParaRPr>
          </a:p>
          <a:p>
            <a:pPr marL="342900" indent="-342900" algn="l">
              <a:buFont typeface="Arial" pitchFamily="34" charset="0"/>
              <a:buChar char="•"/>
            </a:pPr>
            <a:endParaRPr lang="es-ES" sz="2000">
              <a:solidFill>
                <a:schemeClr val="tx1"/>
              </a:solidFill>
            </a:endParaRPr>
          </a:p>
          <a:p>
            <a:pPr marL="342900" indent="-342900" algn="l">
              <a:buFont typeface="Arial" pitchFamily="34" charset="0"/>
              <a:buChar char="•"/>
            </a:pPr>
            <a:endParaRPr lang="es-ES" sz="2000" dirty="0">
              <a:solidFill>
                <a:schemeClr val="tx1"/>
              </a:solidFill>
            </a:endParaRPr>
          </a:p>
        </p:txBody>
      </p:sp>
    </p:spTree>
    <p:extLst>
      <p:ext uri="{BB962C8B-B14F-4D97-AF65-F5344CB8AC3E}">
        <p14:creationId xmlns:p14="http://schemas.microsoft.com/office/powerpoint/2010/main" val="4211179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4"/>
                                        </p:tgtEl>
                                      </p:cBhvr>
                                    </p:animEffect>
                                  </p:childTnLst>
                                </p:cTn>
                              </p:par>
                            </p:childTnLst>
                          </p:cTn>
                        </p:par>
                        <p:par>
                          <p:cTn id="12" fill="hold">
                            <p:stCondLst>
                              <p:cond delay="1050"/>
                            </p:stCondLst>
                            <p:childTnLst>
                              <p:par>
                                <p:cTn id="13" presetID="2" presetClass="entr" presetSubtype="4" fill="hold" grpId="0" nodeType="after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anim calcmode="lin" valueType="num">
                                      <p:cBhvr additive="base">
                                        <p:cTn id="15"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build="p"/>
    </p:bldLst>
  </p:timing>
</p:sld>
</file>

<file path=ppt/theme/theme1.xml><?xml version="1.0" encoding="utf-8"?>
<a:theme xmlns:a="http://schemas.openxmlformats.org/drawingml/2006/main" name="Office 2013 - Tema de 2022">
  <a:themeElements>
    <a:clrScheme name="Office 2013 - Tema de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Tema de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Tema de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1751</TotalTime>
  <Words>1128</Words>
  <Application>Microsoft Office PowerPoint</Application>
  <PresentationFormat>Presentación en pantalla (4:3)</PresentationFormat>
  <Paragraphs>84</Paragraphs>
  <Slides>16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16</vt:i4>
      </vt:variant>
    </vt:vector>
  </HeadingPairs>
  <TitlesOfParts>
    <vt:vector size="21" baseType="lpstr">
      <vt:lpstr>Arial</vt:lpstr>
      <vt:lpstr>Calibri</vt:lpstr>
      <vt:lpstr>Calibri Light</vt:lpstr>
      <vt:lpstr>Wingdings</vt:lpstr>
      <vt:lpstr>Office 2013 - Tema de 2022</vt:lpstr>
      <vt:lpstr>INTRODUCCIÓN</vt:lpstr>
      <vt:lpstr>Presentación de PowerPoint</vt:lpstr>
      <vt:lpstr>OBJETIVOS</vt:lpstr>
      <vt:lpstr>Marco teórico</vt:lpstr>
      <vt:lpstr>TÉCNICA M</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Conclusiones</vt:lpstr>
      <vt:lpstr>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dc:title>
  <dc:creator>Andres</dc:creator>
  <cp:lastModifiedBy>12409 - AMILCAR JOSIMAR SAGASTUME DIAZ</cp:lastModifiedBy>
  <cp:revision>94</cp:revision>
  <dcterms:created xsi:type="dcterms:W3CDTF">2012-06-25T05:17:51Z</dcterms:created>
  <dcterms:modified xsi:type="dcterms:W3CDTF">2024-10-03T22:14:05Z</dcterms:modified>
</cp:coreProperties>
</file>